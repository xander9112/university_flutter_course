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2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6" r:id="rId27"/>
    <p:sldId id="297" r:id="rId28"/>
    <p:sldId id="298" r:id="rId29"/>
    <p:sldId id="29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  <Relationship Id="rId27" Type="http://schemas.openxmlformats.org/officeDocument/2006/relationships/slide" Target="slides/slide20.xml"/>
  <Relationship Id="rId28" Type="http://schemas.openxmlformats.org/officeDocument/2006/relationships/slide" Target="slides/slide21.xml"/>
  <Relationship Id="rId29" Type="http://schemas.openxmlformats.org/officeDocument/2006/relationships/slide" Target="slides/slide2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02.10.2026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8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8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8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20.xml.rels><?xml version="1.0" encoding="UTF-8" standalone="yes"?>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9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8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248" y="1104281"/>
            <a:ext cx="7406640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Обо мне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4572000" y="2103120"/>
            <a:ext cx="6812280" cy="3200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Фурманчук Александр Владимирович</a:t>
            </a:r>
          </a:p>
          <a:p>
            <a:pPr>
              <a:spcAft>
                <a:spcPts val="600"/>
              </a:spcAft>
            </a:pPr>
            <a:r>
              <a:rPr lang="ru-RU" dirty="0"/>
              <a:t>Frontend-разработчик с 2013 года</a:t>
            </a:r>
          </a:p>
          <a:p>
            <a:pPr>
              <a:spcAft>
                <a:spcPts val="600"/>
              </a:spcAft>
            </a:pPr>
            <a:r>
              <a:rPr lang="ru-RU" dirty="0"/>
              <a:t>Flutter-разработка — последние 5 лет</a:t>
            </a:r>
          </a:p>
          <a:p>
            <a:pPr>
              <a:spcAft>
                <a:spcPts val="600"/>
              </a:spcAft>
            </a:pPr>
            <a:r>
              <a:rPr lang="ru-RU" dirty="0"/>
              <a:t>В компании Neoflex — с 2018 года</a:t>
            </a:r>
          </a:p>
          <a:p>
            <a:pPr>
              <a:spcAft>
                <a:spcPts val="600"/>
              </a:spcAft>
            </a:pPr>
            <a:r>
              <a:rPr lang="ru-RU" dirty="0"/>
              <a:t>Автор и преподаватель курса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</a:t>
            </a:fld>
            <a:endParaRPr lang="ru-RU" dirty="0"/>
          </a:p>
        </p:txBody>
      </p:sp>
      <p:pic>
        <p:nvPicPr>
          <p:cNvPr id="21" name="Picture 20" descr="Furmanchuk_Aleksand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74" y="2089483"/>
            <a:ext cx="3017520" cy="3017520"/>
          </a:xfrm>
          <a:prstGeom prst="ellipse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Введение во Flutter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и настройка среды разработки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Dart и Flutter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История 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История Flutter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Подходы к кросс-платформенной разработке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Установка окружения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Flutter SDK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Android Studio и эмулятор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VS 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Первый проект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Создание проекта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Структура папок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pubspec.yaml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Hot Reload / Hot Restart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Dart: история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2011 — создание языка</a:t>
            </a:r>
          </a:p>
          <a:p>
            <a:pPr>
              <a:spcAft>
                <a:spcPts val="600"/>
              </a:spcAft>
            </a:pPr>
            <a:r>
              <a:rPr lang="ru-RU" dirty="0"/>
              <a:t>Google представила Dart как язык для веба — задумывался как замена JavaScript со встроенной VM в браузере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2018 — Dart 2 и Flutter</a:t>
            </a:r>
          </a:p>
          <a:p>
            <a:pPr>
              <a:spcAft>
                <a:spcPts val="600"/>
              </a:spcAft>
            </a:pPr>
            <a:r>
              <a:rPr lang="ru-RU" dirty="0"/>
              <a:t>Ставка на браузерную VM не оправдалась: Dart компилируется в JS для веба, а фокус развития языка смещается на поддержку Flutter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2021 — null safety</a:t>
            </a:r>
          </a:p>
          <a:p>
            <a:pPr>
              <a:spcAft>
                <a:spcPts val="600"/>
              </a:spcAft>
            </a:pPr>
            <a:r>
              <a:rPr lang="ru-RU" dirty="0"/>
              <a:t>Dart 2.12 добавил sound null safety — компилятор не позволяет присвоить null переменной, не допускающей null-значений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Flutter: история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2015 — проект Sky</a:t>
            </a:r>
          </a:p>
          <a:p>
            <a:pPr>
              <a:spcAft>
                <a:spcPts val="600"/>
              </a:spcAft>
            </a:pPr>
            <a:r>
              <a:rPr lang="ru-RU" dirty="0"/>
              <a:t>Первая версия фреймворка существовала под названием Sky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2017 — публичная альфа</a:t>
            </a:r>
          </a:p>
          <a:p>
            <a:pPr>
              <a:spcAft>
                <a:spcPts val="600"/>
              </a:spcAft>
            </a:pPr>
            <a:r>
              <a:rPr lang="ru-RU" dirty="0"/>
              <a:t>Вышла первая публичная альфа-версия Flutter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2018 — Flutter 1.0</a:t>
            </a:r>
          </a:p>
          <a:p>
            <a:pPr>
              <a:spcAft>
                <a:spcPts val="600"/>
              </a:spcAft>
            </a:pPr>
            <a:r>
              <a:rPr lang="ru-RU" dirty="0"/>
              <a:t>Первый стабильный релиз; сегодня Flutter поддерживает Android, iOS, веб, десктоп (Windows/macOS/Linux) и встраиваемые системы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548" y="1563126"/>
            <a:ext cx="10182158" cy="2940780"/>
          </a:xfrm>
        </p:spPr>
        <p:txBody>
          <a:bodyPr/>
          <a:lstStyle/>
          <a:p>
            <a:r>
              <a:rPr lang="ru-RU" dirty="0"/>
              <a:t>Flutter и другие подходы</a:t>
            </a:r>
          </a:p>
          <a:p>
            <a:r>
              <a:rPr lang="ru-RU" dirty="0"/>
              <a:t>к кросс-платформенной разработке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разработке мобильных приложений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1150534"/>
            <a:ext cx="10890250" cy="311553"/>
          </a:xfrm>
        </p:spPr>
        <p:txBody>
          <a:bodyPr/>
          <a:lstStyle/>
          <a:p>
            <a:r>
              <a:rPr lang="ru-RU" dirty="0"/>
              <a:t>Чтобы понять, чем Flutter отличается от других инструментов, разделим подходы на несколько групп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Нативная разработка</a:t>
            </a:r>
          </a:p>
          <a:p>
            <a:r>
              <a:rPr lang="ru-RU" sz="1600" dirty="0"/>
              <a:t>Kotlin/Java (Android) и Swift/Objective-C (iOS) — максимальная производительность, но два независимых кодовых базы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Гибридные веб-приложения</a:t>
            </a:r>
          </a:p>
          <a:p>
            <a:r>
              <a:rPr lang="ru-RU" b="0" dirty="0">
                <a:solidFill>
                  <a:schemeClr val="tx1"/>
                </a:solidFill>
              </a:rPr>
              <a:t>Cordova, Ionic — интерфейс на HTML/CSS/JS в WebView; низкий порог входа, но не нативный вид и доступ к устройству через плагины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Кросс-платформенные с нативными компонентами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React Native, NativeScript — код на JS/TS, но интерфейс — настоящие нативные виджеты через мост (bridge)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Общая бизнес-логика при нативном UI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Kotlin Multiplatform (KMM) — переиспользуется только логика; интерфейс пишется отдельно на каждой платформе (Compose/SwiftUI)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Подход Flutter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Собственный движок рендеринга</a:t>
            </a:r>
          </a:p>
          <a:p>
            <a:pPr>
              <a:spcAft>
                <a:spcPts val="600"/>
              </a:spcAft>
            </a:pPr>
            <a:r>
              <a:rPr lang="ru-RU" dirty="0"/>
              <a:t>Flutter не использует нативные виджеты — сам рисует каждый пиксель через Skia, а в новых версиях — Impeller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Одинаковый UI на всех платформах</a:t>
            </a:r>
          </a:p>
          <a:p>
            <a:pPr>
              <a:spcAft>
                <a:spcPts val="600"/>
              </a:spcAft>
            </a:pPr>
            <a:r>
              <a:rPr lang="ru-RU" dirty="0"/>
              <a:t>Собственные виджеты имитируют Material Design и Cupertino, но полностью настраиваемы; поведение идентично на Android, iOS, web и десктопе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AOT-компиляция и Hot Reload</a:t>
            </a:r>
          </a:p>
          <a:p>
            <a:pPr>
              <a:spcAft>
                <a:spcPts val="600"/>
              </a:spcAft>
            </a:pPr>
            <a:r>
              <a:rPr lang="ru-RU" dirty="0"/>
              <a:t>Релизная сборка компилируется в нативный машинный код (ARM/x64); в разработке используется JIT-компиляция, обеспечивающая Hot Reload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Установка окружения разработки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Установка Flutter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Шаги установки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Инструкция: docs.flutter.dev/get-started/install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Загрузить последний релиз фреймворка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Распаковать архив в любую директорию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Настроить переменную окружения PATH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Проверка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Запустить flutter doctor для проверки установки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Убедиться, что нет критических ошибок (красных строк)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Установка Android Studio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Шаги установки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Скачать и установить: developer.android.com/studio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При первом запуске пройти мастер настройки (Wizard)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Загрузить последний Android 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Загрузить Android SDK Command-Line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Загрузить Android SDK Build-Tools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Проверка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Запустить flutter doctor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Если Flutter не находит Android Studio — указать путь вручную: flutter config --android-studio-dir=&lt;directory&gt;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Настройка Android-эмулятора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Создание устройства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Windows/Linux: включить VM acceleration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Открыть Virtual Device Manager в Android 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Нажать Create Device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Выбрать параметры устройства и нажать Next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Выбрать версию Android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Финальная настройка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Ввести название устройства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 Advanced Settings настроить объём ОЗУ и хранилища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Нажать Finish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Установка VS Code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Установка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Скачать и установить: code.visualstudio.com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Запустить VS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Расширение Flutter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Открыть вкладку Extensions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Найти расширение Flutter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Установить расширение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Создание проекта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Через консоль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flutter create appname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Через VS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View → Command Palette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Ввести flutter и выбрать Flutter: New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Выбрать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Указать директорию для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Ввести имя проекта и нажать Enter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Структура Flutter-проекта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Обзор папок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Платформенный код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android/ — настройки, код и ресурсы Android (AndroidManifest.xml, build.gradle, res)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ios/ — аналогично для iOS (Assets.xcassets, Info.plist)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build/ — продукты сборки, появляется автоматически при запуске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Код и тесты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lib/ — основной Dart-код приложения, начинается с main.dart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test/ — код автоматических тестов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Служебные файлы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.dart_tool/ — служебная папка Pub, не редактируется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pubspec.yaml / pubspec.lock — зависимости и ассеты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.gitignore, .metadata, analysis_options — конфигурация проекта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pubspec.yaml: ключевые поля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Идентификация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name — имя пакета (snake_case, [a-z0-9_])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version — версия из трёх чисел, например 1.0.0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description — краткое описание пакета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Зависимости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dependencies — нужны в рантайме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dev_dependencies — только для разработки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dependency_overrides — временная замена зависимости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environment — поддерживаемые версии SDK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Публикация на pub.dev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homepage, repository, issue_tracker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executables — CLI-скрипты пакета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platforms, topics — поддерживаемые платформы и категории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Hot Reload и Hot Restart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Hot Reload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Внедряет обновлённые файлы исходного кода в работающую Dart 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Flutter перестраивает дерево виджетов без перезапуска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Работает только в debug-режиме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Не все изменения применяются им — например, правки main() или глобального состояния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Hot Restart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Полностью перезапускает приложение без пересборки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Нужен, когда Hot Reload не может применить изменения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Состояние приложения сбрасывается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flutter create cine_track и запустить на эмуляторе (flutter run)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Заполнить pubspec.yaml: name, description,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Очистить lib/main.dart и вывести приветственный текст по центру экрана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Проверить flutter doctor — без критических ошибок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На протяжении курса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CineTrack — персональный трекер фильмов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Список популярных фильмов из открытого API, поиск, избранное и оценки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Офлайн-хранение, тесты, Clean Architecture — далее по курсу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нужен Hot Restart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1150534"/>
            <a:ext cx="10890250" cy="311553"/>
          </a:xfrm>
        </p:spPr>
        <p:txBody>
          <a:bodyPr/>
          <a:lstStyle/>
          <a:p>
            <a:r>
              <a:rPr lang="ru-RU" dirty="0"/>
              <a:t>Hot Reload сохраняет состояние: код, который выполняется один раз, заново не запускается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builder у CupertinoTabView</a:t>
            </a:r>
          </a:p>
          <a:p>
            <a:r>
              <a:rPr lang="ru-RU" sz="1600" dirty="0"/>
              <a:t>Изменения внутри builder виджета CupertinoTabView при Hot Reload не применяются (issue 43574 в репозитории Flutter)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main() и initState()</a:t>
            </a:r>
          </a:p>
          <a:p>
            <a:r>
              <a:rPr lang="ru-RU" b="0" dirty="0">
                <a:solidFill>
                  <a:schemeClr val="tx1"/>
                </a:solidFill>
              </a:rPr>
              <a:t>Выполняются один раз — при запуске приложения или создании State, поэтому после Hot Reload их изменения не видны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Глобальные и static-поля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Считаются состоянием: инициализаторы не перезапускаются. Изменения const применяются всегда, вместо final можно использовать геттер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enum и generic-типы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Hot Reload не работает, если enum превращается в класс (или наоборот) либо меняется объявление generic-типа: A&lt;T&gt; → A&lt;T, V&gt;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Hot Reload: другие случаи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Ошибки компиляции</a:t>
            </a:r>
          </a:p>
          <a:p>
            <a:pPr>
              <a:spcAft>
                <a:spcPts val="600"/>
              </a:spcAft>
            </a:pPr>
            <a:r>
              <a:rPr lang="ru-RU" dirty="0"/>
              <a:t>«Hot reload was rejected» — приложение работает со старым кодом. Исправьте ошибки в указанных строках и повторите Hot Reload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Нативный код</a:t>
            </a:r>
          </a:p>
          <a:p>
            <a:pPr>
              <a:spcAft>
                <a:spcPts val="600"/>
              </a:spcAft>
            </a:pPr>
            <a:r>
              <a:rPr lang="ru-RU" dirty="0"/>
              <a:t>Изменения в Kotlin, Java, Swift или Objective-C не подхватят ни Hot Reload, ни Hot Restart — нужен полный перезапуск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Состояние приложения</a:t>
            </a:r>
          </a:p>
          <a:p>
            <a:pPr>
              <a:spcAft>
                <a:spcPts val="600"/>
              </a:spcAft>
            </a:pPr>
            <a:r>
              <a:rPr lang="ru-RU" dirty="0"/>
              <a:t>Данные после Hot Reload могут отличаться от запуска с нуля. Если система убила приложение в фоне, Hot Reload тоже не сработает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Что выбрать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Достаточно Hot Reload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Вёрстка внутри build()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Тела методов и функций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Значения const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Если изменения не видны или появилась странная ошибка — переходите к Hot Restart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Hot Restart или полный перезапуск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Hot Restart: main(), initState(), инициализаторы глобальных и static-полей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Hot Restart: enum ↔ класс, объявление generic-типа, builder у CupertinoTabView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Полный перезапуск (остановить и запустить заново): нативный код на Kotlin, Java, Swift, Objective-C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4802</TotalTime>
  <Words>1123</Words>
  <Application>Microsoft Macintosh PowerPoint</Application>
  <PresentationFormat>Widescreen</PresentationFormat>
  <Paragraphs>190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Обо мне</vt:lpstr>
      <vt:lpstr>PowerPoint Presentation</vt:lpstr>
      <vt:lpstr>План лекции</vt:lpstr>
      <vt:lpstr>Dart: история</vt:lpstr>
      <vt:lpstr>Flutter: история</vt:lpstr>
      <vt:lpstr>PowerPoint Presentation</vt:lpstr>
      <vt:lpstr>Подходы к разработке мобильных приложений</vt:lpstr>
      <vt:lpstr>Подход Flutter</vt:lpstr>
      <vt:lpstr>PowerPoint Presentation</vt:lpstr>
      <vt:lpstr>Установка Flutter</vt:lpstr>
      <vt:lpstr>Установка Android Studio</vt:lpstr>
      <vt:lpstr>Настройка Android-эмулятора</vt:lpstr>
      <vt:lpstr>Установка VS Code</vt:lpstr>
      <vt:lpstr>Создание проекта</vt:lpstr>
      <vt:lpstr>PowerPoint Presentation</vt:lpstr>
      <vt:lpstr>Обзор папок проекта</vt:lpstr>
      <vt:lpstr>pubspec.yaml: ключевые поля</vt:lpstr>
      <vt:lpstr>Hot Reload и Hot Restart</vt:lpstr>
      <vt:lpstr>Домашнее задание: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351</cp:revision>
  <dcterms:created xsi:type="dcterms:W3CDTF">2025-10-28T11:38:48Z</dcterms:created>
  <dcterms:modified xsi:type="dcterms:W3CDTF">2026-10-02T06:46:50Z</dcterms:modified>
</cp:coreProperties>
</file>