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16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416" y="18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5.png"/><Relationship Id="rId11" Type="http://schemas.openxmlformats.org/officeDocument/2006/relationships/image" Target="../media/image30.svg"/><Relationship Id="rId5" Type="http://schemas.openxmlformats.org/officeDocument/2006/relationships/image" Target="../media/image34.svg"/><Relationship Id="rId10" Type="http://schemas.openxmlformats.org/officeDocument/2006/relationships/image" Target="../media/image29.png"/><Relationship Id="rId4" Type="http://schemas.openxmlformats.org/officeDocument/2006/relationships/image" Target="../media/image33.png"/><Relationship Id="rId9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3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3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3,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3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Dart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Null Safety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3,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Основы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Зачем нужен null safety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Nullable vs non-nullable синтаксис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Иерархия типов: Object?, Never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Операторы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?? и ??= — значения по умолчанию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?. — безопасный доступ к полю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!, ?.. и ?[] — спецоператоры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Продвинутое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late — отложенная инициализация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Generics и обобщения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Задание: модель Movie для CineTrack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3,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Основы Null Safety</a:t>
            </a:r>
          </a:p>
          <a:p>
            <a:r>
              <a:rPr lang="ru-RU" dirty="0"/>
              <a:t>Типы, которые не подведут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До и после Null Safety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3,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До Null Safety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Null мог попасть в переменную любого типа — int, String, List, ваш класс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Ошибка разыменования null — самый частый runtime-краш в приложениях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Компилятор не помогал: забытую null-проверку находили только в рантайме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После Null Safety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Все типы non-nullable по умолчанию — null нужно объявить явно через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Компилятор гарантированно проверяет null на этапе анализа, а не в рантайме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Полностью надёжная (sound) типизация — меньше ошибок, компактнее и быстрее код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4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3,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Nullable-типы: как объявить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Non-nullable (по умолчанию)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int i = 42;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Присвоить null — ошибка компиляции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Каждая переменная обязана иметь значение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Nullable — добавляем ?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int? i;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Может содержать значение int или null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? добавляется к любому типу: String?, List?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Направление потока значений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non-nullable → nullable: разрешено всегда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nullable → non-nullable: запрещено напрямую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Нужны ??, ?. или ! для безопасного перехода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Иерархия типов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3,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Null safety делит типы на nullable и non-nullable части, с новыми крайними точками иерархии.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Object?</a:t>
            </a:r>
          </a:p>
          <a:p>
            <a:r>
              <a:rPr lang="ru-RU" sz="1600" dirty="0"/>
              <a:t>Новый верхний тип. Включает вообще все значения, включая null. Используйте вместо Object, если нужен «любой тип».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Object</a:t>
            </a:r>
          </a:p>
          <a:p>
            <a:r>
              <a:rPr lang="ru-RU" b="0" dirty="0">
                <a:solidFill>
                  <a:schemeClr val="tx1"/>
                </a:solidFill>
              </a:rPr>
              <a:t>Уже не главный тип — Null больше не его подтип. Обычный non-nullable объект без права быть null.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Never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Новый нижний тип — у него нет ни одного значения. Подходит для функций, которые всегда бросают исключение.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Null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Раньше был нижним типом иерархии — из-за этого null мог попасть куда угодно. Теперь обычный nullable-тип.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6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3,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7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Null-aware операторы</a:t>
            </a:r>
          </a:p>
          <a:p>
            <a:r>
              <a:rPr lang="ru-RU" dirty="0"/>
              <a:t>?? ??= ?. ! ?.. ?[]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3,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Операторы ??, ??= и ?.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?? — значение по умолчанию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value1 ?? value2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Если value1 не null — вернёт value1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Если value1 null — вернёт value2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??= — присвоить, если null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a ??= 10;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Присваивает 10, только если a было null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Сокращение записи: a = a ?? 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?. — безопасный доступ к полю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user?.age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Вызывает .age, только если user не null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Если user null — результат тоже null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8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3,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Ещё три null-aware оператора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! — null assertion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i = getInt()!;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Утверждает: значение точно не null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Ошибка в runtime, если это неверно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?.. — каскад с проверкой на null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path?..moveTo(0,0)..lineTo(4,4)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Проверка нужна только в начале цепочки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Если объект null — вся цепочка пропускается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?[] — null-aware индекс списка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myColors?[1]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Вернёт элемент по индексу или null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Работает, даже если список — null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9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3,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10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late и Generics</a:t>
            </a:r>
          </a:p>
          <a:p>
            <a:r>
              <a:rPr lang="ru-RU" dirty="0"/>
              <a:t>Продвинутые возможности Dart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3,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late — отложенная инициализация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Что решает late</a:t>
            </a:r>
          </a:p>
          <a:p>
            <a:pPr>
              <a:spcAft>
                <a:spcPts val="600"/>
              </a:spcAft>
            </a:pPr>
            <a:r>
              <a:rPr lang="ru-RU" dirty="0"/>
              <a:t>late откладывает обязательную инициализацию non-nullable переменной до первого использования — без превращения её в nullable.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Гибкое место присвоения</a:t>
            </a:r>
          </a:p>
          <a:p>
            <a:pPr>
              <a:spcAft>
                <a:spcPts val="600"/>
              </a:spcAft>
            </a:pPr>
            <a:r>
              <a:rPr lang="ru-RU" dirty="0"/>
              <a:t>Значение можно установить в конструкторе или в отдельном методе — необязательно сразу при объявлении поля.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Риск: доступ до инициализации</a:t>
            </a:r>
          </a:p>
          <a:p>
            <a:pPr>
              <a:spcAft>
                <a:spcPts val="600"/>
              </a:spcAft>
            </a:pPr>
            <a:r>
              <a:rPr lang="ru-RU" dirty="0"/>
              <a:t>Если обратиться к late-переменной раньше, чем ей присвоено значение — программа упадёт с ошибкой в runtime.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11</a:t>
            </a:fld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3,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Generics — обобщения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Class&lt;T&gt; — типизация класса</a:t>
            </a:r>
          </a:p>
          <a:p>
            <a:pPr>
              <a:spcAft>
                <a:spcPts val="600"/>
              </a:spcAft>
            </a:pPr>
            <a:r>
              <a:rPr lang="ru-RU" dirty="0"/>
              <a:t>Person&lt;T&gt; { T id; } позволяет полю id принимать любой тип, сохраняя проверку типов — в отличие от dynamic.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Обобщённые функции</a:t>
            </a:r>
          </a:p>
          <a:p>
            <a:pPr>
              <a:spcAft>
                <a:spcPts val="600"/>
              </a:spcAft>
            </a:pPr>
            <a:r>
              <a:rPr lang="ru-RU" dirty="0"/>
              <a:t>void log&lt;T&gt;(T a) — универсальный параметр T работает и для отдельных функций и методов, не только для классов.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T extends Account — ограничение</a:t>
            </a:r>
          </a:p>
          <a:p>
            <a:pPr>
              <a:spcAft>
                <a:spcPts val="600"/>
              </a:spcAft>
            </a:pPr>
            <a:r>
              <a:rPr lang="ru-RU" dirty="0"/>
              <a:t>Transaction&lt;T extends Account&gt; требует, чтобы T обязательно был классом Account или его наследником.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12</a:t>
            </a:fld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Задание 3: модель Movie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3,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сделать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Создать класс Movie с nullable-полями: overview, posterPath, voteAverage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Обязательные поля id, title, releaseDate объявить через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Добавить геттеры year, rating, posterUrl с обработкой null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Создать список mockMovies, где часть полей намеренно равна null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Использовать ?? и ?. в MovieCard и MovieDetailScreen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Написать функции filterByRating, sortByRating, searchByTitle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Полностью заменить Map&lt;String, dynamic&gt; на объекты Movie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Контекст: CineTrack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Продолжение CineTrack — трекера фильмов, который собирается весь курс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До этого фильмы хранились как Map&lt;String, dynamic&gt; — неудобно и небезопасно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Задание закрепляет null safety на реальной модели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Результат: типобезопасная модель для следующих лекций (Provider, HTTP, BLoC)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13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4796</TotalTime>
  <Words>885</Words>
  <Application>Microsoft Macintosh PowerPoint</Application>
  <PresentationFormat>Widescreen</PresentationFormat>
  <Paragraphs>135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PowerPoint Presentation</vt:lpstr>
      <vt:lpstr>План лекции</vt:lpstr>
      <vt:lpstr>PowerPoint Presentation</vt:lpstr>
      <vt:lpstr>До и после Null Safety</vt:lpstr>
      <vt:lpstr>Nullable-типы: как объявить</vt:lpstr>
      <vt:lpstr>Иерархия типов</vt:lpstr>
      <vt:lpstr>PowerPoint Presentation</vt:lpstr>
      <vt:lpstr>Операторы ??, ??= и ?.</vt:lpstr>
      <vt:lpstr>Ещё три null-aware оператора</vt:lpstr>
      <vt:lpstr>PowerPoint Presentation</vt:lpstr>
      <vt:lpstr>late — отложенная инициализация</vt:lpstr>
      <vt:lpstr>Generics — обобщения</vt:lpstr>
      <vt:lpstr>Задание 3: модель Movie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350</cp:revision>
  <dcterms:created xsi:type="dcterms:W3CDTF">2025-10-28T11:38:48Z</dcterms:created>
  <dcterms:modified xsi:type="dcterms:W3CDTF">2026-09-03T07:06:12Z</dcterms:modified>
</cp:coreProperties>
</file>