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</p:sldMasterIdLst>
  <p:notesMasterIdLst>
    <p:notesMasterId r:id="rId21"/>
  </p:notesMasterIdLst>
  <p:sldIdLst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6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F0AE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6405" autoAdjust="0"/>
  </p:normalViewPr>
  <p:slideViewPr>
    <p:cSldViewPr snapToGrid="0" showGuides="1">
      <p:cViewPr varScale="1">
        <p:scale>
          <a:sx n="131" d="100"/>
          <a:sy n="131" d="100"/>
        </p:scale>
        <p:origin x="416" y="184"/>
      </p:cViewPr>
      <p:guideLst>
        <p:guide orient="horz" pos="2137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36A41-8A82-4A63-A644-1300ED3C4BD0}" type="datetimeFigureOut">
              <a:rPr lang="ru-RU" smtClean="0"/>
              <a:t>03.09.2026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D93F3-FD71-4611-A070-2878D5BCF5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851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18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9467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10" Type="http://schemas.openxmlformats.org/officeDocument/2006/relationships/image" Target="../media/image5.sv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E29745E-883E-4D68-8AA0-4269C501B433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B2D6EE1-B88A-4B76-B19A-D3034FBC1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6A1B717A-6C57-4C77-81E1-FA8AD40AB2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E05A67-0DBA-4D3B-8D25-BA8690EEF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41A51FF-2DD6-4FE9-B2D2-5B4355B22756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042A8896-1CE3-4C38-A49B-1947498802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C5A54A4D-72B8-4264-9FDE-D0D03756C0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486735"/>
            <a:ext cx="503482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C8B690-B31E-4424-AA58-93210A7469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3A96859-441E-4DFE-BEEB-BBF3874FB12C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5DC1B7-1099-4802-A04C-3865D9749A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5E27989-F29A-42EA-8A0D-88A0E86EEE28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4065751-6D3A-4153-B414-7F34FF9EF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B70C3511-A582-4572-98FE-CA9C7FB06C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273" y="2486735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ПРОМЕЖУТОЧНЫЙ СЛАЙД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3627AF-EDB1-4777-AEEC-A295E86FF3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5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B2D6EE1-B88A-4B76-B19A-D3034FBC15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3" r="10997" b="9232"/>
          <a:stretch/>
        </p:blipFill>
        <p:spPr>
          <a:xfrm>
            <a:off x="4154273" y="0"/>
            <a:ext cx="8037728" cy="6858000"/>
          </a:xfrm>
          <a:prstGeom prst="rect">
            <a:avLst/>
          </a:prstGeom>
          <a:effectLst/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8AB4F367-C9F1-40F8-9879-3D148ADF314D}"/>
              </a:ext>
            </a:extLst>
          </p:cNvPr>
          <p:cNvSpPr txBox="1"/>
          <p:nvPr/>
        </p:nvSpPr>
        <p:spPr>
          <a:xfrm>
            <a:off x="7716000" y="2323366"/>
            <a:ext cx="34999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9170" rtl="0" eaLnBrk="1" fontAlgn="auto" latinLnBrk="0" hangingPunct="1"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+7 (495) 984-25-13 </a:t>
            </a:r>
          </a:p>
          <a:p>
            <a:pPr>
              <a:spcAft>
                <a:spcPts val="1800"/>
              </a:spcAft>
            </a:pPr>
            <a:r>
              <a:rPr lang="en-US" sz="2400" b="1" dirty="0">
                <a:solidFill>
                  <a:schemeClr val="bg1"/>
                </a:solidFill>
                <a:ea typeface="Blogger Sans" pitchFamily="50" charset="0"/>
              </a:rPr>
              <a:t>info</a:t>
            </a: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@neoflex.ru  </a:t>
            </a:r>
          </a:p>
          <a:p>
            <a:pPr>
              <a:spcAft>
                <a:spcPts val="1800"/>
              </a:spcAft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www.neoflex.ru</a:t>
            </a:r>
          </a:p>
        </p:txBody>
      </p:sp>
      <p:grpSp>
        <p:nvGrpSpPr>
          <p:cNvPr id="9" name="Google Shape;6126;p50">
            <a:extLst>
              <a:ext uri="{FF2B5EF4-FFF2-40B4-BE49-F238E27FC236}">
                <a16:creationId xmlns:a16="http://schemas.microsoft.com/office/drawing/2014/main" id="{DC1CCB8E-CD15-4C1D-A793-637A223DF18C}"/>
              </a:ext>
            </a:extLst>
          </p:cNvPr>
          <p:cNvGrpSpPr/>
          <p:nvPr/>
        </p:nvGrpSpPr>
        <p:grpSpPr>
          <a:xfrm>
            <a:off x="7114454" y="2340521"/>
            <a:ext cx="511546" cy="508848"/>
            <a:chOff x="-35853975" y="2631825"/>
            <a:chExt cx="293800" cy="292250"/>
          </a:xfrm>
          <a:solidFill>
            <a:schemeClr val="bg1"/>
          </a:solidFill>
        </p:grpSpPr>
        <p:sp>
          <p:nvSpPr>
            <p:cNvPr id="10" name="Google Shape;6127;p50">
              <a:extLst>
                <a:ext uri="{FF2B5EF4-FFF2-40B4-BE49-F238E27FC236}">
                  <a16:creationId xmlns:a16="http://schemas.microsoft.com/office/drawing/2014/main" id="{EBAADA26-B67B-4041-996B-A5A0837B5E5B}"/>
                </a:ext>
              </a:extLst>
            </p:cNvPr>
            <p:cNvSpPr/>
            <p:nvPr/>
          </p:nvSpPr>
          <p:spPr>
            <a:xfrm>
              <a:off x="-35813025" y="2701825"/>
              <a:ext cx="201675" cy="171925"/>
            </a:xfrm>
            <a:custGeom>
              <a:avLst/>
              <a:gdLst/>
              <a:ahLst/>
              <a:cxnLst/>
              <a:rect l="l" t="t" r="r" b="b"/>
              <a:pathLst>
                <a:path w="8067" h="6877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1" name="Google Shape;6128;p50">
              <a:extLst>
                <a:ext uri="{FF2B5EF4-FFF2-40B4-BE49-F238E27FC236}">
                  <a16:creationId xmlns:a16="http://schemas.microsoft.com/office/drawing/2014/main" id="{C845EA35-420F-4305-BA90-0FD38B2EC8DC}"/>
                </a:ext>
              </a:extLst>
            </p:cNvPr>
            <p:cNvSpPr/>
            <p:nvPr/>
          </p:nvSpPr>
          <p:spPr>
            <a:xfrm>
              <a:off x="-35853975" y="2631825"/>
              <a:ext cx="293800" cy="292250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2" name="Google Shape;6129;p50">
              <a:extLst>
                <a:ext uri="{FF2B5EF4-FFF2-40B4-BE49-F238E27FC236}">
                  <a16:creationId xmlns:a16="http://schemas.microsoft.com/office/drawing/2014/main" id="{7652C095-B1B9-4360-A57A-C1CFB4F573B9}"/>
                </a:ext>
              </a:extLst>
            </p:cNvPr>
            <p:cNvSpPr/>
            <p:nvPr/>
          </p:nvSpPr>
          <p:spPr>
            <a:xfrm>
              <a:off x="-35715350" y="2735025"/>
              <a:ext cx="49650" cy="40675"/>
            </a:xfrm>
            <a:custGeom>
              <a:avLst/>
              <a:gdLst/>
              <a:ahLst/>
              <a:cxnLst/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6" name="Google Shape;6130;p50">
              <a:extLst>
                <a:ext uri="{FF2B5EF4-FFF2-40B4-BE49-F238E27FC236}">
                  <a16:creationId xmlns:a16="http://schemas.microsoft.com/office/drawing/2014/main" id="{75868F21-56AE-4EA0-8725-1B384DD9CFE9}"/>
                </a:ext>
              </a:extLst>
            </p:cNvPr>
            <p:cNvSpPr/>
            <p:nvPr/>
          </p:nvSpPr>
          <p:spPr>
            <a:xfrm>
              <a:off x="-35705900" y="2667275"/>
              <a:ext cx="107925" cy="101750"/>
            </a:xfrm>
            <a:custGeom>
              <a:avLst/>
              <a:gdLst/>
              <a:ahLst/>
              <a:cxnLst/>
              <a:rect l="l" t="t" r="r" b="b"/>
              <a:pathLst>
                <a:path w="4317" h="4070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7" name="Google Shape;6131;p50">
              <a:extLst>
                <a:ext uri="{FF2B5EF4-FFF2-40B4-BE49-F238E27FC236}">
                  <a16:creationId xmlns:a16="http://schemas.microsoft.com/office/drawing/2014/main" id="{7B27E6ED-1277-475C-A4F1-22796A8FA77E}"/>
                </a:ext>
              </a:extLst>
            </p:cNvPr>
            <p:cNvSpPr/>
            <p:nvPr/>
          </p:nvSpPr>
          <p:spPr>
            <a:xfrm>
              <a:off x="-35709825" y="2700350"/>
              <a:ext cx="77200" cy="68700"/>
            </a:xfrm>
            <a:custGeom>
              <a:avLst/>
              <a:gdLst/>
              <a:ahLst/>
              <a:cxnLst/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</p:grpSp>
      <p:sp>
        <p:nvSpPr>
          <p:cNvPr id="18" name="Google Shape;7858;p54">
            <a:extLst>
              <a:ext uri="{FF2B5EF4-FFF2-40B4-BE49-F238E27FC236}">
                <a16:creationId xmlns:a16="http://schemas.microsoft.com/office/drawing/2014/main" id="{0FEED75C-273A-4592-B972-DF0EE97E17E6}"/>
              </a:ext>
            </a:extLst>
          </p:cNvPr>
          <p:cNvSpPr/>
          <p:nvPr/>
        </p:nvSpPr>
        <p:spPr>
          <a:xfrm>
            <a:off x="7137689" y="3012193"/>
            <a:ext cx="465077" cy="326807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B68F10A-604A-4ECA-819C-F126A20BD1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803" y="3529856"/>
            <a:ext cx="508848" cy="50884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FF79E19-4864-47D2-9B38-B4EFFF4185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5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30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2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88665" y="1746624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530" y="864000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529" y="2238341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82504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283647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82504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83647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7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19DD44FA-27AB-4434-A4C8-59133FA45DFA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480935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479800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149421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148286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480935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479800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149421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148286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68603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69746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68603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69746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0B31B5B-7962-405D-8694-D0E63C0F847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786000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98BC94-319C-4D98-B502-9BD63C00EE9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784865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01994E6-4B2A-4CEC-83F2-E7F0FDECE6C6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786000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628C449-6578-42B5-B815-0686F025618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784865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2" name="Рисунок 4">
            <a:extLst>
              <a:ext uri="{FF2B5EF4-FFF2-40B4-BE49-F238E27FC236}">
                <a16:creationId xmlns:a16="http://schemas.microsoft.com/office/drawing/2014/main" id="{19770E01-6964-459F-BF3E-55532CC890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206325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3" name="Рисунок 4">
            <a:extLst>
              <a:ext uri="{FF2B5EF4-FFF2-40B4-BE49-F238E27FC236}">
                <a16:creationId xmlns:a16="http://schemas.microsoft.com/office/drawing/2014/main" id="{64887905-4BAB-47CB-8DE0-DE922E55FF6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206325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7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1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12DA187-312A-4E43-9C05-28CC8D9E131F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1193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8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60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307" y="874226"/>
            <a:ext cx="4859701" cy="1149549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565AD6E-9E95-445E-9FC2-129B499F40B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2313671"/>
            <a:ext cx="4859700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33433D8-92A1-4328-A566-3A705F867D9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307" y="3583356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Tx/>
              <a:buBlip>
                <a:blip r:embed="rId3"/>
              </a:buBlip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6F7634E8-F701-45D5-A4AA-6ECE7443285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549275"/>
            <a:ext cx="5217673" cy="5706042"/>
          </a:xfrm>
          <a:prstGeom prst="round2DiagRect">
            <a:avLst>
              <a:gd name="adj1" fmla="val 12060"/>
              <a:gd name="adj2" fmla="val 0"/>
            </a:avLst>
          </a:prstGeom>
          <a:solidFill>
            <a:schemeClr val="bg1">
              <a:lumMod val="95000"/>
              <a:alpha val="98000"/>
            </a:schemeClr>
          </a:solidFill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27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E0F6B2E-5B0A-46EA-8E17-4AF173604191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10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3AF4703D-3D13-4134-95EA-C0C4111AAB9F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DF2132C2-B239-49F5-AAB4-0BF4A1CBAD79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7014920-721C-429D-A4DC-8BDA04BEB67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29E9F6-94FF-4E01-8F1A-3089CEE7E509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57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E560B45F-C8A0-4BC4-9717-3E8B7932F14F}"/>
              </a:ext>
            </a:extLst>
          </p:cNvPr>
          <p:cNvSpPr/>
          <p:nvPr/>
        </p:nvSpPr>
        <p:spPr>
          <a:xfrm>
            <a:off x="515937" y="909638"/>
            <a:ext cx="11160126" cy="5397036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C63345B1-B0E7-4D70-BB55-1F95D565E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346F714-E33D-4B52-9C26-1110CFBBE2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97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98F47A8-87AD-4840-9693-720EF7ACB5A2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811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379D60F-B549-464B-A6AD-0D1B17810B55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976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F7A58A0-866F-45A5-ABDD-2E6FEA9A30F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6300" y="1079801"/>
            <a:ext cx="4859700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328276-5760-47CA-A7AB-F9470C19FF1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42848" y="1079801"/>
            <a:ext cx="4818152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lang="en-US" sz="24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78DE2D0-8104-4DA9-A1BF-3CB0B6B4B2D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36DA5E7-780F-4B4D-8940-462531A43F8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3655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EC25276-CBC3-4D45-AB42-DA6E1E92F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B499F52-401A-49BF-99CB-EA635ADB8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9954B67-D381-4FD3-97E0-701E618487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6F325A6-FCD5-4BEC-B542-64FF674C3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E01F455-85BE-4C64-BD67-DE0DA1AFD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5114AFB7-9B3F-4339-BB08-6D23CCF5F296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0A035A8-32D1-4B95-963F-45D4D7999C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E136376-623D-43AD-92C2-E82802B7B3E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0D71B7AD-6A28-4FF7-BEA1-CF124456B3A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5DA1F66-68E5-4E42-B3E4-A93887B78C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42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D790A0E-C765-4FF7-B56B-A915D8A908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3" name="Прямоугольник: скругленные противолежащие углы 22">
            <a:extLst>
              <a:ext uri="{FF2B5EF4-FFF2-40B4-BE49-F238E27FC236}">
                <a16:creationId xmlns:a16="http://schemas.microsoft.com/office/drawing/2014/main" id="{574AD74A-57B1-4501-B06C-0EDB635B7EDB}"/>
              </a:ext>
            </a:extLst>
          </p:cNvPr>
          <p:cNvSpPr/>
          <p:nvPr/>
        </p:nvSpPr>
        <p:spPr>
          <a:xfrm>
            <a:off x="6320937" y="414000"/>
            <a:ext cx="4994763" cy="5625000"/>
          </a:xfrm>
          <a:prstGeom prst="round2DiagRect">
            <a:avLst>
              <a:gd name="adj1" fmla="val 0"/>
              <a:gd name="adj2" fmla="val 8369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Прямоугольник: скругленные противолежащие углы 19">
            <a:extLst>
              <a:ext uri="{FF2B5EF4-FFF2-40B4-BE49-F238E27FC236}">
                <a16:creationId xmlns:a16="http://schemas.microsoft.com/office/drawing/2014/main" id="{DE855376-4B41-441F-B27E-C427BE114FC8}"/>
              </a:ext>
            </a:extLst>
          </p:cNvPr>
          <p:cNvSpPr/>
          <p:nvPr/>
        </p:nvSpPr>
        <p:spPr>
          <a:xfrm>
            <a:off x="876300" y="414000"/>
            <a:ext cx="4994701" cy="5625000"/>
          </a:xfrm>
          <a:prstGeom prst="round2DiagRect">
            <a:avLst>
              <a:gd name="adj1" fmla="val 0"/>
              <a:gd name="adj2" fmla="val 836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864260F-32D3-4587-B64B-12E2B1BE1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CAED4F-F1AE-4731-AADE-D5A0F15D73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5" name="Заголовок 8">
            <a:extLst>
              <a:ext uri="{FF2B5EF4-FFF2-40B4-BE49-F238E27FC236}">
                <a16:creationId xmlns:a16="http://schemas.microsoft.com/office/drawing/2014/main" id="{8D7CF973-5762-45E0-A920-65C8F5FCA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7435" y="612650"/>
            <a:ext cx="4273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4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059EC4-6F39-41CE-945E-4B42108D2C1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237434" y="1001326"/>
            <a:ext cx="4273565" cy="4274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06DF096-1939-48A8-B9E5-61C84EDBB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36299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9FA92D1-D458-4FAA-95F2-763588F0E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6001" y="612646"/>
            <a:ext cx="4275000" cy="539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b="1" kern="1200" spc="130" baseline="0" dirty="0">
                <a:solidFill>
                  <a:schemeClr val="bg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3B74E89A-BEDD-43CF-93E1-B78261D2D7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5750" y="1001713"/>
            <a:ext cx="4275138" cy="53975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800" b="1" kern="1200" baseline="0" dirty="0">
                <a:solidFill>
                  <a:schemeClr val="bg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algn="ctr" defTabSz="914400" rtl="0" eaLnBrk="1" latinLnBrk="0" hangingPunct="1">
              <a:defRPr lang="ru-R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9">
            <a:extLst>
              <a:ext uri="{FF2B5EF4-FFF2-40B4-BE49-F238E27FC236}">
                <a16:creationId xmlns:a16="http://schemas.microsoft.com/office/drawing/2014/main" id="{8EA17D82-02DA-4BEE-9F69-6CAB21EFC7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5637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998C1D8-7B65-4B56-B8B7-500B573D52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72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B472E55-5FB7-45AD-9D6B-7BA57A80F1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78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AEE5DF19-4ADE-4B9F-83F7-6D2A93325125}"/>
              </a:ext>
            </a:extLst>
          </p:cNvPr>
          <p:cNvSpPr/>
          <p:nvPr/>
        </p:nvSpPr>
        <p:spPr>
          <a:xfrm>
            <a:off x="515938" y="3958075"/>
            <a:ext cx="5529004" cy="2349807"/>
          </a:xfrm>
          <a:prstGeom prst="round2DiagRect">
            <a:avLst>
              <a:gd name="adj1" fmla="val 0"/>
              <a:gd name="adj2" fmla="val 2756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E4EE99BA-B94A-4FA1-A356-7EBFD41E95CB}"/>
              </a:ext>
            </a:extLst>
          </p:cNvPr>
          <p:cNvSpPr/>
          <p:nvPr/>
        </p:nvSpPr>
        <p:spPr>
          <a:xfrm>
            <a:off x="6158588" y="3952613"/>
            <a:ext cx="5510686" cy="2356111"/>
          </a:xfrm>
          <a:prstGeom prst="round2DiagRect">
            <a:avLst>
              <a:gd name="adj1" fmla="val 0"/>
              <a:gd name="adj2" fmla="val 2163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308F6DBB-79B5-477F-BCC8-14C4D18A5731}"/>
              </a:ext>
            </a:extLst>
          </p:cNvPr>
          <p:cNvSpPr/>
          <p:nvPr/>
        </p:nvSpPr>
        <p:spPr>
          <a:xfrm>
            <a:off x="534261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противолежащие углы 25">
            <a:extLst>
              <a:ext uri="{FF2B5EF4-FFF2-40B4-BE49-F238E27FC236}">
                <a16:creationId xmlns:a16="http://schemas.microsoft.com/office/drawing/2014/main" id="{301AF38E-E199-4DB4-BB53-A4EFC90C2031}"/>
              </a:ext>
            </a:extLst>
          </p:cNvPr>
          <p:cNvSpPr/>
          <p:nvPr/>
        </p:nvSpPr>
        <p:spPr>
          <a:xfrm flipH="1">
            <a:off x="534257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8" name="Прямоугольник с двумя скругленными противолежащими углами 14">
            <a:extLst>
              <a:ext uri="{FF2B5EF4-FFF2-40B4-BE49-F238E27FC236}">
                <a16:creationId xmlns:a16="http://schemas.microsoft.com/office/drawing/2014/main" id="{37B95D56-A8C7-4C17-B3DC-51D6AE4B1109}"/>
              </a:ext>
            </a:extLst>
          </p:cNvPr>
          <p:cNvSpPr/>
          <p:nvPr/>
        </p:nvSpPr>
        <p:spPr>
          <a:xfrm>
            <a:off x="605999" y="5004000"/>
            <a:ext cx="2699556" cy="945000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Прямоугольник с двумя скругленными противолежащими углами 25">
            <a:extLst>
              <a:ext uri="{FF2B5EF4-FFF2-40B4-BE49-F238E27FC236}">
                <a16:creationId xmlns:a16="http://schemas.microsoft.com/office/drawing/2014/main" id="{2FBC3BB5-9938-45BC-8034-094E66385CA7}"/>
              </a:ext>
            </a:extLst>
          </p:cNvPr>
          <p:cNvSpPr/>
          <p:nvPr/>
        </p:nvSpPr>
        <p:spPr>
          <a:xfrm>
            <a:off x="605999" y="4008968"/>
            <a:ext cx="2699922" cy="905032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C288254-C5C9-4375-AF53-9020A684EC55}"/>
              </a:ext>
            </a:extLst>
          </p:cNvPr>
          <p:cNvSpPr/>
          <p:nvPr/>
        </p:nvSpPr>
        <p:spPr>
          <a:xfrm>
            <a:off x="3346427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: скругленные противолежащие углы 72">
            <a:extLst>
              <a:ext uri="{FF2B5EF4-FFF2-40B4-BE49-F238E27FC236}">
                <a16:creationId xmlns:a16="http://schemas.microsoft.com/office/drawing/2014/main" id="{2D67D29F-B0E8-46DA-8290-EFD093E08C1F}"/>
              </a:ext>
            </a:extLst>
          </p:cNvPr>
          <p:cNvSpPr/>
          <p:nvPr/>
        </p:nvSpPr>
        <p:spPr>
          <a:xfrm flipH="1">
            <a:off x="3346423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9C643F4E-386A-4270-AD35-8416F2EEF768}"/>
              </a:ext>
            </a:extLst>
          </p:cNvPr>
          <p:cNvSpPr/>
          <p:nvPr/>
        </p:nvSpPr>
        <p:spPr>
          <a:xfrm>
            <a:off x="6158593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: скругленные противолежащие углы 74">
            <a:extLst>
              <a:ext uri="{FF2B5EF4-FFF2-40B4-BE49-F238E27FC236}">
                <a16:creationId xmlns:a16="http://schemas.microsoft.com/office/drawing/2014/main" id="{46A07FD6-3B27-40FC-8C37-A891E1DABDD3}"/>
              </a:ext>
            </a:extLst>
          </p:cNvPr>
          <p:cNvSpPr/>
          <p:nvPr/>
        </p:nvSpPr>
        <p:spPr>
          <a:xfrm flipH="1">
            <a:off x="6158589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7459504B-5C16-4B68-8194-E73A2C8BC4CF}"/>
              </a:ext>
            </a:extLst>
          </p:cNvPr>
          <p:cNvSpPr/>
          <p:nvPr/>
        </p:nvSpPr>
        <p:spPr>
          <a:xfrm>
            <a:off x="8970759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: скругленные противолежащие углы 76">
            <a:extLst>
              <a:ext uri="{FF2B5EF4-FFF2-40B4-BE49-F238E27FC236}">
                <a16:creationId xmlns:a16="http://schemas.microsoft.com/office/drawing/2014/main" id="{F6EE3302-42D1-4A52-B9E2-9EFE9D6520BA}"/>
              </a:ext>
            </a:extLst>
          </p:cNvPr>
          <p:cNvSpPr/>
          <p:nvPr/>
        </p:nvSpPr>
        <p:spPr>
          <a:xfrm flipH="1">
            <a:off x="8970755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9" name="Прямоугольник: скругленные противолежащие углы 78">
            <a:extLst>
              <a:ext uri="{FF2B5EF4-FFF2-40B4-BE49-F238E27FC236}">
                <a16:creationId xmlns:a16="http://schemas.microsoft.com/office/drawing/2014/main" id="{653046DC-8947-4CB1-95A2-7B0ED6A27B69}"/>
              </a:ext>
            </a:extLst>
          </p:cNvPr>
          <p:cNvSpPr/>
          <p:nvPr/>
        </p:nvSpPr>
        <p:spPr>
          <a:xfrm flipH="1">
            <a:off x="5227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1AE2E6E8-875A-4282-9DF2-62BF0724D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F14337B-E4BC-4592-9196-9D7292091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Прямоугольник: скругленные противолежащие углы 23">
            <a:extLst>
              <a:ext uri="{FF2B5EF4-FFF2-40B4-BE49-F238E27FC236}">
                <a16:creationId xmlns:a16="http://schemas.microsoft.com/office/drawing/2014/main" id="{283FAD29-CD23-41CE-A5F2-BD906D790A6A}"/>
              </a:ext>
            </a:extLst>
          </p:cNvPr>
          <p:cNvSpPr/>
          <p:nvPr/>
        </p:nvSpPr>
        <p:spPr>
          <a:xfrm flipH="1">
            <a:off x="61615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47DF941F-34F2-4B9C-B46B-86D5DB43A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8592FD9-BAD9-43D7-8A19-34F565191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95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512110F-5E3A-48C2-ADA8-5FDF5FEC84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2" name="Текст 5">
            <a:extLst>
              <a:ext uri="{FF2B5EF4-FFF2-40B4-BE49-F238E27FC236}">
                <a16:creationId xmlns:a16="http://schemas.microsoft.com/office/drawing/2014/main" id="{234BACE3-56DA-4B09-B9BE-2B659AF6C81B}"/>
              </a:ext>
            </a:extLst>
          </p:cNvPr>
          <p:cNvSpPr txBox="1">
            <a:spLocks/>
          </p:cNvSpPr>
          <p:nvPr/>
        </p:nvSpPr>
        <p:spPr>
          <a:xfrm>
            <a:off x="51593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id="{DCC27D43-6F68-4624-9326-C7A0860193CC}"/>
              </a:ext>
            </a:extLst>
          </p:cNvPr>
          <p:cNvSpPr txBox="1">
            <a:spLocks/>
          </p:cNvSpPr>
          <p:nvPr/>
        </p:nvSpPr>
        <p:spPr>
          <a:xfrm>
            <a:off x="515938" y="2978362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1414E0C2-8DA4-497C-BF68-2DA956960D17}"/>
              </a:ext>
            </a:extLst>
          </p:cNvPr>
          <p:cNvSpPr txBox="1">
            <a:spLocks/>
          </p:cNvSpPr>
          <p:nvPr/>
        </p:nvSpPr>
        <p:spPr>
          <a:xfrm>
            <a:off x="618521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389BA943-16DD-4567-BF57-E9FC0889311A}"/>
              </a:ext>
            </a:extLst>
          </p:cNvPr>
          <p:cNvSpPr txBox="1">
            <a:spLocks/>
          </p:cNvSpPr>
          <p:nvPr/>
        </p:nvSpPr>
        <p:spPr>
          <a:xfrm>
            <a:off x="6185218" y="2979000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572BFC82-7ABC-48AF-8372-1E2A9427283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7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DDBAFC4-1675-4CF4-AAAE-62B88EBE64E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0F9C3F8-3248-4AE1-ABCF-516CDACC342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6ACCA079-6988-414C-8E3F-7FE372D9CCC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5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E8ACED-B0BA-4848-8429-59A8E4130FA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5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0DF03CC-8324-4A16-B406-DCE09D0B7C23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5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6E24F2B-70C1-4FB1-BDF5-E84DC9C8D1D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7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985C6F36-8908-4EAC-BB12-EC3D181DFB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5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AE52F0-6930-40B5-92DB-D531F8AA91F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908060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5" name="Рисунок 2">
            <a:extLst>
              <a:ext uri="{FF2B5EF4-FFF2-40B4-BE49-F238E27FC236}">
                <a16:creationId xmlns:a16="http://schemas.microsoft.com/office/drawing/2014/main" id="{706CC600-7DB6-426D-91E6-107939672EF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30100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6" name="Рисунок 2">
            <a:extLst>
              <a:ext uri="{FF2B5EF4-FFF2-40B4-BE49-F238E27FC236}">
                <a16:creationId xmlns:a16="http://schemas.microsoft.com/office/drawing/2014/main" id="{A488BCFB-A77C-4A99-BEE7-1DB6DEB1924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591682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7" name="Рисунок 2">
            <a:extLst>
              <a:ext uri="{FF2B5EF4-FFF2-40B4-BE49-F238E27FC236}">
                <a16:creationId xmlns:a16="http://schemas.microsoft.com/office/drawing/2014/main" id="{5893A5D7-7E33-48B7-90C0-0BB5BD046C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613722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2" name="Заголовок 8">
            <a:extLst>
              <a:ext uri="{FF2B5EF4-FFF2-40B4-BE49-F238E27FC236}">
                <a16:creationId xmlns:a16="http://schemas.microsoft.com/office/drawing/2014/main" id="{DE8067D4-0499-46F1-B7B5-BC8EAE23C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89BDA95-1553-4CCF-82A0-B95831017C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4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A61701-5A5E-49E8-901E-A6F2AFDFBA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5C1210C-9081-43A1-A806-4C54766CA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68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60889C-58F0-426B-9F37-64D14205E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053" y="3533979"/>
            <a:ext cx="15527009" cy="4443446"/>
          </a:xfrm>
          <a:prstGeom prst="rect">
            <a:avLst/>
          </a:prstGeom>
        </p:spPr>
      </p:pic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903E8EC-1042-40D9-BA9D-6007B44D3962}"/>
              </a:ext>
            </a:extLst>
          </p:cNvPr>
          <p:cNvSpPr/>
          <p:nvPr/>
        </p:nvSpPr>
        <p:spPr>
          <a:xfrm>
            <a:off x="518228" y="909638"/>
            <a:ext cx="11157835" cy="5294354"/>
          </a:xfrm>
          <a:prstGeom prst="round2DiagRect">
            <a:avLst>
              <a:gd name="adj1" fmla="val 0"/>
              <a:gd name="adj2" fmla="val 1317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1A79D8F2-D33A-441F-9681-4E1611DEAA15}"/>
              </a:ext>
            </a:extLst>
          </p:cNvPr>
          <p:cNvSpPr/>
          <p:nvPr/>
        </p:nvSpPr>
        <p:spPr>
          <a:xfrm>
            <a:off x="4201539" y="909638"/>
            <a:ext cx="3830608" cy="5294354"/>
          </a:xfrm>
          <a:prstGeom prst="round2DiagRect">
            <a:avLst>
              <a:gd name="adj1" fmla="val 0"/>
              <a:gd name="adj2" fmla="val 16747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с двумя скругленными противолежащими углами 18">
            <a:extLst>
              <a:ext uri="{FF2B5EF4-FFF2-40B4-BE49-F238E27FC236}">
                <a16:creationId xmlns:a16="http://schemas.microsoft.com/office/drawing/2014/main" id="{A6F0B806-936C-48F8-B4A9-8F3A306967E8}"/>
              </a:ext>
            </a:extLst>
          </p:cNvPr>
          <p:cNvSpPr/>
          <p:nvPr/>
        </p:nvSpPr>
        <p:spPr>
          <a:xfrm>
            <a:off x="811088" y="1272631"/>
            <a:ext cx="3164157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 с двумя скругленными противолежащими углами 21">
            <a:extLst>
              <a:ext uri="{FF2B5EF4-FFF2-40B4-BE49-F238E27FC236}">
                <a16:creationId xmlns:a16="http://schemas.microsoft.com/office/drawing/2014/main" id="{AD7A572D-DF10-4BC0-A5BD-6D590C8F32B6}"/>
              </a:ext>
            </a:extLst>
          </p:cNvPr>
          <p:cNvSpPr/>
          <p:nvPr/>
        </p:nvSpPr>
        <p:spPr>
          <a:xfrm>
            <a:off x="8079322" y="1309124"/>
            <a:ext cx="3187744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671D0B1-606D-47FB-ACA5-13061FCE544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1471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6BC2703A-40C8-43E3-BF20-392660379F3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1202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6EF7B67-3D1F-4F04-BAB4-6788BA3A343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634998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71DE050F-60F6-4BC6-8755-4B47649F6292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32306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CAD3610-DCB1-4CEB-B9FE-3C9F63FDF5D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40730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A3D274E-1B9B-44BC-A0F6-BCAD626FB7B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40461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656B590-341A-4863-B603-01892C01C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6179F97-C9B3-46D9-8EE3-E0BCD1FF0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Заголовок 8">
            <a:extLst>
              <a:ext uri="{FF2B5EF4-FFF2-40B4-BE49-F238E27FC236}">
                <a16:creationId xmlns:a16="http://schemas.microsoft.com/office/drawing/2014/main" id="{94C29365-A724-493C-8E4D-ED4C1D6B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723B9B9-C871-444D-A0D7-4397F4F9E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756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half" idx="19"/>
          </p:nvPr>
        </p:nvSpPr>
        <p:spPr>
          <a:xfrm>
            <a:off x="4860237" y="1435624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0"/>
          </p:nvPr>
        </p:nvSpPr>
        <p:spPr>
          <a:xfrm>
            <a:off x="4860237" y="2863228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21"/>
          </p:nvPr>
        </p:nvSpPr>
        <p:spPr>
          <a:xfrm>
            <a:off x="4860237" y="4325869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780937" y="158400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5780937" y="1944000"/>
            <a:ext cx="5874243" cy="106662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780937" y="3017746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5780937" y="3377745"/>
            <a:ext cx="5874243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5780937" y="446001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5780937" y="4820011"/>
            <a:ext cx="5874243" cy="10703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7F7C8EC-BB82-4961-BF97-DB1810C2D0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CA51056-FD01-4F25-9E91-6476DD51B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B797A83-FCFB-4E84-9637-64EEA25E41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65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691000" y="1584001"/>
            <a:ext cx="598506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SzPct val="105000"/>
              <a:buFontTx/>
              <a:buBlip>
                <a:blip r:embed="rId2"/>
              </a:buBlip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Список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3A8DE3E-1F1B-4D9A-9573-1C2843F60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6BD6E7D5-C2FC-48E9-9A24-BBC587AAED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7D6BBA57-63BD-4B35-9695-8151D0823E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248887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Рисунок 4">
            <a:extLst>
              <a:ext uri="{FF2B5EF4-FFF2-40B4-BE49-F238E27FC236}">
                <a16:creationId xmlns:a16="http://schemas.microsoft.com/office/drawing/2014/main" id="{8EA45322-C682-4940-902C-BF6E200E61F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86000" y="549275"/>
            <a:ext cx="4050000" cy="5759450"/>
          </a:xfrm>
          <a:prstGeom prst="round2DiagRect">
            <a:avLst>
              <a:gd name="adj1" fmla="val 1105"/>
              <a:gd name="adj2" fmla="val 29578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3AEA540-380E-4D20-8070-EF2F85B912E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050" y="559548"/>
            <a:ext cx="3311796" cy="11408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F5B1ECDA-C0A3-4C61-BF49-411752EE977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96050" y="1912532"/>
            <a:ext cx="3306031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7DEDF87-5394-4754-8070-0666514AF0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4727" y="1164942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первый</a:t>
            </a:r>
          </a:p>
        </p:txBody>
      </p:sp>
      <p:sp>
        <p:nvSpPr>
          <p:cNvPr id="79" name="Текст 6">
            <a:extLst>
              <a:ext uri="{FF2B5EF4-FFF2-40B4-BE49-F238E27FC236}">
                <a16:creationId xmlns:a16="http://schemas.microsoft.com/office/drawing/2014/main" id="{CCAA5A60-A3DE-4FC2-979A-D53B622895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4727" y="3188584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второй</a:t>
            </a:r>
          </a:p>
        </p:txBody>
      </p:sp>
      <p:sp>
        <p:nvSpPr>
          <p:cNvPr id="80" name="Текст 6">
            <a:extLst>
              <a:ext uri="{FF2B5EF4-FFF2-40B4-BE49-F238E27FC236}">
                <a16:creationId xmlns:a16="http://schemas.microsoft.com/office/drawing/2014/main" id="{BAA2D3A1-4EC1-49DF-BC44-67C7795FE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84727" y="5148661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третий</a:t>
            </a:r>
          </a:p>
        </p:txBody>
      </p:sp>
      <p:sp>
        <p:nvSpPr>
          <p:cNvPr id="83" name="Footer Placeholder 4">
            <a:extLst>
              <a:ext uri="{FF2B5EF4-FFF2-40B4-BE49-F238E27FC236}">
                <a16:creationId xmlns:a16="http://schemas.microsoft.com/office/drawing/2014/main" id="{68B9A856-43CA-4771-8916-817B3B21D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4" name="Slide Number Placeholder 5">
            <a:extLst>
              <a:ext uri="{FF2B5EF4-FFF2-40B4-BE49-F238E27FC236}">
                <a16:creationId xmlns:a16="http://schemas.microsoft.com/office/drawing/2014/main" id="{61F821CE-7317-4A09-A8D1-3A6B147F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38688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876300" y="4985536"/>
            <a:ext cx="10439400" cy="11316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76300" y="4572733"/>
            <a:ext cx="10439400" cy="4007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09638"/>
            <a:ext cx="11168460" cy="3452314"/>
          </a:xfrm>
          <a:prstGeom prst="round2DiagRect">
            <a:avLst>
              <a:gd name="adj1" fmla="val 0"/>
              <a:gd name="adj2" fmla="val 24607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2" name="Заголовок 8">
            <a:extLst>
              <a:ext uri="{FF2B5EF4-FFF2-40B4-BE49-F238E27FC236}">
                <a16:creationId xmlns:a16="http://schemas.microsoft.com/office/drawing/2014/main" id="{1723988A-47CB-4A91-B68E-C5CD1415E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45903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6736946-746A-4B18-A218-AA1C9C92AF6B}"/>
              </a:ext>
            </a:extLst>
          </p:cNvPr>
          <p:cNvSpPr/>
          <p:nvPr/>
        </p:nvSpPr>
        <p:spPr>
          <a:xfrm>
            <a:off x="3666000" y="909638"/>
            <a:ext cx="8010063" cy="5397645"/>
          </a:xfrm>
          <a:prstGeom prst="round2DiagRect">
            <a:avLst>
              <a:gd name="adj1" fmla="val 0"/>
              <a:gd name="adj2" fmla="val 1556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11079"/>
            <a:ext cx="5580062" cy="5397645"/>
          </a:xfrm>
          <a:prstGeom prst="round2DiagRect">
            <a:avLst>
              <a:gd name="adj1" fmla="val 0"/>
              <a:gd name="adj2" fmla="val 16063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45263" y="1584325"/>
            <a:ext cx="4365625" cy="3959225"/>
          </a:xfrm>
          <a:prstGeom prst="rect">
            <a:avLst/>
          </a:prstGeom>
        </p:spPr>
        <p:txBody>
          <a:bodyPr/>
          <a:lstStyle>
            <a:lvl1pPr>
              <a:defRPr lang="ru-RU" sz="14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DBF71D66-3A75-413A-8264-77F0C5A10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69719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909638"/>
            <a:ext cx="12192000" cy="5981194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Заголовок 8">
            <a:extLst>
              <a:ext uri="{FF2B5EF4-FFF2-40B4-BE49-F238E27FC236}">
                <a16:creationId xmlns:a16="http://schemas.microsoft.com/office/drawing/2014/main" id="{9BFAF725-3D97-4226-A807-724DB3162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6000" y="1224000"/>
            <a:ext cx="5220063" cy="546468"/>
          </a:xfrm>
          <a:prstGeom prst="rect">
            <a:avLst/>
          </a:prstGeom>
        </p:spPr>
        <p:txBody>
          <a:bodyPr/>
          <a:lstStyle>
            <a:lvl1pPr algn="l">
              <a:defRPr lang="ru-RU" sz="2800" b="1" kern="1200" spc="13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0840"/>
            <a:ext cx="6096000" cy="6297885"/>
          </a:xfrm>
          <a:prstGeom prst="round2DiagRect">
            <a:avLst>
              <a:gd name="adj1" fmla="val 0"/>
              <a:gd name="adj2" fmla="val 1236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6000" y="1718978"/>
            <a:ext cx="5220063" cy="395922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 lang="ru-RU" sz="14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46959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Два объекта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44A131-D1C0-4C74-9965-2A72DC6572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36" name="Рисунок 3">
            <a:extLst>
              <a:ext uri="{FF2B5EF4-FFF2-40B4-BE49-F238E27FC236}">
                <a16:creationId xmlns:a16="http://schemas.microsoft.com/office/drawing/2014/main" id="{7297A07D-E59F-4902-9470-48F3DB01A82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3081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3">
            <a:extLst>
              <a:ext uri="{FF2B5EF4-FFF2-40B4-BE49-F238E27FC236}">
                <a16:creationId xmlns:a16="http://schemas.microsoft.com/office/drawing/2014/main" id="{239D909B-C7E7-43C9-A48B-D9A05691CF9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15938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3">
            <a:extLst>
              <a:ext uri="{FF2B5EF4-FFF2-40B4-BE49-F238E27FC236}">
                <a16:creationId xmlns:a16="http://schemas.microsoft.com/office/drawing/2014/main" id="{47D57127-886A-4D9A-97C6-914F62FD5B5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03081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92BE74F-8026-4D7B-AD33-97CF6D12C4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5938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3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C86FB037-3C07-4EA7-B165-C39F457DCEFF}"/>
              </a:ext>
            </a:extLst>
          </p:cNvPr>
          <p:cNvSpPr/>
          <p:nvPr/>
        </p:nvSpPr>
        <p:spPr>
          <a:xfrm>
            <a:off x="66360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F7A6DD39-EF9B-4508-A561-6A4CBDBD0CC0}"/>
              </a:ext>
            </a:extLst>
          </p:cNvPr>
          <p:cNvSpPr/>
          <p:nvPr/>
        </p:nvSpPr>
        <p:spPr>
          <a:xfrm>
            <a:off x="8763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D3D03F9-833E-4BB1-A6CE-7ECD47080273}"/>
              </a:ext>
            </a:extLst>
          </p:cNvPr>
          <p:cNvSpPr/>
          <p:nvPr/>
        </p:nvSpPr>
        <p:spPr>
          <a:xfrm>
            <a:off x="66360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9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5814D3EE-AEC2-4D0C-88A1-8EA6383229C3}"/>
              </a:ext>
            </a:extLst>
          </p:cNvPr>
          <p:cNvSpPr/>
          <p:nvPr/>
        </p:nvSpPr>
        <p:spPr>
          <a:xfrm>
            <a:off x="8763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8C8AAA9-760B-4489-9526-9A26091E0E53}"/>
              </a:ext>
            </a:extLst>
          </p:cNvPr>
          <p:cNvSpPr txBox="1">
            <a:spLocks/>
          </p:cNvSpPr>
          <p:nvPr/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36835B-2651-4DA9-BBA3-14F7095E4B9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655DFE21-9537-4CA7-82A6-A4B6C7EE8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2" name="Текст 2">
            <a:extLst>
              <a:ext uri="{FF2B5EF4-FFF2-40B4-BE49-F238E27FC236}">
                <a16:creationId xmlns:a16="http://schemas.microsoft.com/office/drawing/2014/main" id="{752C25DF-A6D8-4271-BFBD-6055CE98B8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1000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3" name="Текст 2">
            <a:extLst>
              <a:ext uri="{FF2B5EF4-FFF2-40B4-BE49-F238E27FC236}">
                <a16:creationId xmlns:a16="http://schemas.microsoft.com/office/drawing/2014/main" id="{B039450E-1836-44B1-B60F-B51B7950CB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1000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4" name="Текст 2">
            <a:extLst>
              <a:ext uri="{FF2B5EF4-FFF2-40B4-BE49-F238E27FC236}">
                <a16:creationId xmlns:a16="http://schemas.microsoft.com/office/drawing/2014/main" id="{A1B1EFE2-884F-47CE-A0BC-8BCDADCDFC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13121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2D5414C-7F80-485F-AFDA-57896A5B2F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13121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E18F7EA4-304A-4360-A754-359153AFF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170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6849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EFB72-EFD4-40C5-AED7-78793FE02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3BFFA7-7AEC-4FA8-AA60-C547812E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DFC629-7655-4FEF-9B2F-A19D42C6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BDC4C4-EB02-4F1D-834B-FD7A098A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CA37FD-3709-420A-B016-FB6E9825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6414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590F1D-3FF9-4505-9E1A-E8C7DAC217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935038"/>
            <a:ext cx="3135339" cy="104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12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sp>
        <p:nvSpPr>
          <p:cNvPr id="12" name="Нижний колонтитул 1">
            <a:extLst>
              <a:ext uri="{FF2B5EF4-FFF2-40B4-BE49-F238E27FC236}">
                <a16:creationId xmlns:a16="http://schemas.microsoft.com/office/drawing/2014/main" id="{BAAE972A-936A-44EF-8F0B-F9428A729D0D}"/>
              </a:ext>
            </a:extLst>
          </p:cNvPr>
          <p:cNvSpPr txBox="1">
            <a:spLocks/>
          </p:cNvSpPr>
          <p:nvPr/>
        </p:nvSpPr>
        <p:spPr>
          <a:xfrm>
            <a:off x="532902" y="594836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814120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</p:spTree>
    <p:extLst>
      <p:ext uri="{BB962C8B-B14F-4D97-AF65-F5344CB8AC3E}">
        <p14:creationId xmlns:p14="http://schemas.microsoft.com/office/powerpoint/2010/main" val="2175802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35997651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1565099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6000" y="2674851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Подзаголовок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29704269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325749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7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один скругленный угол 8">
            <a:extLst>
              <a:ext uri="{FF2B5EF4-FFF2-40B4-BE49-F238E27FC236}">
                <a16:creationId xmlns:a16="http://schemas.microsoft.com/office/drawing/2014/main" id="{C8571FD8-5D68-43E8-80C7-C261C941D2DB}"/>
              </a:ext>
            </a:extLst>
          </p:cNvPr>
          <p:cNvSpPr/>
          <p:nvPr/>
        </p:nvSpPr>
        <p:spPr>
          <a:xfrm flipV="1">
            <a:off x="0" y="-2"/>
            <a:ext cx="7535863" cy="1552565"/>
          </a:xfrm>
          <a:prstGeom prst="round1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2CB16A8-9007-4B9C-A06A-1D7A52AF7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0" y="1044000"/>
            <a:ext cx="2107403" cy="6169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192306"/>
            <a:ext cx="5535612" cy="15525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1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78591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один скругленный угол 15">
            <a:extLst>
              <a:ext uri="{FF2B5EF4-FFF2-40B4-BE49-F238E27FC236}">
                <a16:creationId xmlns:a16="http://schemas.microsoft.com/office/drawing/2014/main" id="{CFBF660B-006E-4913-B7F1-AECE36E6B3C5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6B0F9CC-1AA8-47FB-B352-69F39339EF89}"/>
              </a:ext>
            </a:extLst>
          </p:cNvPr>
          <p:cNvSpPr/>
          <p:nvPr/>
        </p:nvSpPr>
        <p:spPr>
          <a:xfrm>
            <a:off x="515938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B3CCB5E-B681-410A-9B5B-76F1EF3D3E63}"/>
              </a:ext>
            </a:extLst>
          </p:cNvPr>
          <p:cNvSpPr/>
          <p:nvPr/>
        </p:nvSpPr>
        <p:spPr>
          <a:xfrm>
            <a:off x="4313609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E83F64D-699C-46D7-9FFE-FC2AF8B639E5}"/>
              </a:ext>
            </a:extLst>
          </p:cNvPr>
          <p:cNvSpPr/>
          <p:nvPr/>
        </p:nvSpPr>
        <p:spPr>
          <a:xfrm>
            <a:off x="8111280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9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03F484-46A3-4DDF-8833-7FBECE48E03E}"/>
              </a:ext>
            </a:extLst>
          </p:cNvPr>
          <p:cNvSpPr/>
          <p:nvPr/>
        </p:nvSpPr>
        <p:spPr>
          <a:xfrm>
            <a:off x="515937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97FB6CA-68B0-4DC9-883B-D2EF47215991}"/>
              </a:ext>
            </a:extLst>
          </p:cNvPr>
          <p:cNvSpPr/>
          <p:nvPr/>
        </p:nvSpPr>
        <p:spPr>
          <a:xfrm>
            <a:off x="6233874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8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5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37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02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4802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43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4E26F4C1-E17A-42B9-9787-46E22FBE1FCC}"/>
              </a:ext>
            </a:extLst>
          </p:cNvPr>
          <p:cNvSpPr/>
          <p:nvPr/>
        </p:nvSpPr>
        <p:spPr>
          <a:xfrm rot="16200000">
            <a:off x="4887651" y="-446352"/>
            <a:ext cx="6847695" cy="7761001"/>
          </a:xfrm>
          <a:prstGeom prst="round2SameRect">
            <a:avLst>
              <a:gd name="adj1" fmla="val 5834"/>
              <a:gd name="adj2" fmla="val 0"/>
            </a:avLst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136" y="1235177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91926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6000" y="1726894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668987" y="923523"/>
            <a:ext cx="1595870" cy="1939753"/>
          </a:xfrm>
          <a:prstGeom prst="roundRect">
            <a:avLst>
              <a:gd name="adj" fmla="val 6799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370130" y="923523"/>
            <a:ext cx="1595870" cy="1939753"/>
          </a:xfrm>
          <a:prstGeom prst="roundRect">
            <a:avLst>
              <a:gd name="adj" fmla="val 664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8987" y="3776498"/>
            <a:ext cx="1595870" cy="1939753"/>
          </a:xfrm>
          <a:prstGeom prst="roundRect">
            <a:avLst>
              <a:gd name="adj" fmla="val 79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70130" y="3776498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55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76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E54B3B8-6E9D-4F0B-8C17-51B1774FD8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889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2A036574-04B8-471C-9F4A-402A9715B44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754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C68B8DA8-36AE-41D9-952C-CC22D2DF75D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3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F68F3703-6EE7-47DA-8810-D63161C650AE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2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BA46350D-7B62-4B98-930A-ADD9981B296C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889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AD0DBFB-FDA4-4204-908B-3DD3F91F17F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754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4F86A53-09F1-42B6-B964-0F3B8F9F0E7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3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CE3BD75D-8FDF-4DA4-9017-BE49C495E2F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2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8" name="Рисунок 4">
            <a:extLst>
              <a:ext uri="{FF2B5EF4-FFF2-40B4-BE49-F238E27FC236}">
                <a16:creationId xmlns:a16="http://schemas.microsoft.com/office/drawing/2014/main" id="{38628F22-D6BD-4184-9F28-63162FCA0F6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876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49" name="Рисунок 4">
            <a:extLst>
              <a:ext uri="{FF2B5EF4-FFF2-40B4-BE49-F238E27FC236}">
                <a16:creationId xmlns:a16="http://schemas.microsoft.com/office/drawing/2014/main" id="{57F771C5-BFA2-4EBF-BFB9-1B3985F4032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19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0" name="Рисунок 4">
            <a:extLst>
              <a:ext uri="{FF2B5EF4-FFF2-40B4-BE49-F238E27FC236}">
                <a16:creationId xmlns:a16="http://schemas.microsoft.com/office/drawing/2014/main" id="{4201B8F9-2351-4495-B899-CE146EF1C0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876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1" name="Рисунок 4">
            <a:extLst>
              <a:ext uri="{FF2B5EF4-FFF2-40B4-BE49-F238E27FC236}">
                <a16:creationId xmlns:a16="http://schemas.microsoft.com/office/drawing/2014/main" id="{0F02BFB4-EB2B-4D79-AC51-1E632B4045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19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AC40D5F2-D366-4DED-90F3-8B1F486BF04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7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70CA595-4FC5-47BE-87F3-9C22F9066E8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6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C052E0F5-668D-4A31-9A33-A4A8ABB2C002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7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F61B47D-F365-469B-BC7E-53EE9A44EB3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6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6" name="Рисунок 4">
            <a:extLst>
              <a:ext uri="{FF2B5EF4-FFF2-40B4-BE49-F238E27FC236}">
                <a16:creationId xmlns:a16="http://schemas.microsoft.com/office/drawing/2014/main" id="{7D1935D4-B283-408C-A96B-BD68E4ADD7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19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7" name="Рисунок 4">
            <a:extLst>
              <a:ext uri="{FF2B5EF4-FFF2-40B4-BE49-F238E27FC236}">
                <a16:creationId xmlns:a16="http://schemas.microsoft.com/office/drawing/2014/main" id="{FB9D8250-D8F5-42F5-AAEB-B0C005B9E75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19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3973173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38" y="324000"/>
            <a:ext cx="5939700" cy="540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50EEF-2BC3-4FDC-9ED3-B90A98D8851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951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2ADE612-4D39-460A-94D1-0F1B7CF6ABE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816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513042-2336-4566-B836-6249A1EF5EC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4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E198DD-A087-4E8D-B3F2-471786C18D5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3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BD97AB1-2B5F-49E0-A564-92CD9A6E5AB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951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407059-6582-45D0-95B6-15815286291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816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3FC9E4A-4839-4E66-ACCF-0EDE7716A85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4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A4D35AE-8CB5-4850-B523-726CAFDE324B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3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9" name="Рисунок 4">
            <a:extLst>
              <a:ext uri="{FF2B5EF4-FFF2-40B4-BE49-F238E27FC236}">
                <a16:creationId xmlns:a16="http://schemas.microsoft.com/office/drawing/2014/main" id="{EFD1F04C-8601-45F5-822E-F08919CD9F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938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1" name="Рисунок 4">
            <a:extLst>
              <a:ext uri="{FF2B5EF4-FFF2-40B4-BE49-F238E27FC236}">
                <a16:creationId xmlns:a16="http://schemas.microsoft.com/office/drawing/2014/main" id="{3C32C7FB-E88F-4B6D-8B11-2700DB4F1C8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81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2" name="Рисунок 4">
            <a:extLst>
              <a:ext uri="{FF2B5EF4-FFF2-40B4-BE49-F238E27FC236}">
                <a16:creationId xmlns:a16="http://schemas.microsoft.com/office/drawing/2014/main" id="{5DF09240-8405-4D2C-BDD3-0D90CF1A87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938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3" name="Рисунок 4">
            <a:extLst>
              <a:ext uri="{FF2B5EF4-FFF2-40B4-BE49-F238E27FC236}">
                <a16:creationId xmlns:a16="http://schemas.microsoft.com/office/drawing/2014/main" id="{9AE0E28C-DDA8-43C4-86A4-E8215FC0F68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81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C92B6AC-6DB8-492D-8AAF-3882BE8EC1E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8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8D0EB99-371A-4A5B-86D3-572306F295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7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25EFCE-BF6D-4517-ABA5-97E28767734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8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F071A19-09EB-4551-A373-63D564EBB86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7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8" name="Рисунок 4">
            <a:extLst>
              <a:ext uri="{FF2B5EF4-FFF2-40B4-BE49-F238E27FC236}">
                <a16:creationId xmlns:a16="http://schemas.microsoft.com/office/drawing/2014/main" id="{1A465055-5443-4732-A739-8FDDEBCE94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81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6C5A70A8-CC7D-40FE-BD81-F5270EE7FF5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81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098496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972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918297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68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83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64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9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80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8FED8C-6FC7-4D72-A6BB-775AB8EC5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2C450D-961E-4FCB-8E9F-976891B87D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1571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3ECF3E8-DBB3-47CB-ADE3-350C2422AF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EC9016-E98E-468C-8A1B-E9F24540C2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F439BCE-C84A-4DAE-B827-D68284AABF3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982645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B319E90-E715-4885-8ECB-F9E82FD0E1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EF565B8-F6D1-42A7-A584-DC2F15F76AC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262C3C8-2745-4665-9A4E-015B16A0929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484807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6874455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997358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F6076E8-B178-4CB4-9D19-4316FDBD7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348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5DE73C1-0CB4-42E4-B8DA-24D4DEDE29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4AE4384-683D-4066-A0AB-5BF6CF7D7E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7" y="927842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7" y="2775705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7" y="4623567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78913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954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1191000" y="927842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1191000" y="2775705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1191000" y="4623567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3645FCD-4C84-48FA-8666-A1EB1C247DAE}"/>
              </a:ext>
            </a:extLst>
          </p:cNvPr>
          <p:cNvSpPr/>
          <p:nvPr/>
        </p:nvSpPr>
        <p:spPr>
          <a:xfrm>
            <a:off x="515938" y="1189816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1B0C7A7-7217-45CB-B3CD-F999D05937BB}"/>
              </a:ext>
            </a:extLst>
          </p:cNvPr>
          <p:cNvSpPr/>
          <p:nvPr/>
        </p:nvSpPr>
        <p:spPr>
          <a:xfrm>
            <a:off x="515938" y="3076368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DF0C028-E673-4902-A028-59FA4B394A1B}"/>
              </a:ext>
            </a:extLst>
          </p:cNvPr>
          <p:cNvSpPr/>
          <p:nvPr/>
        </p:nvSpPr>
        <p:spPr>
          <a:xfrm>
            <a:off x="515938" y="4895543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918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4863"/>
            <a:ext cx="6513693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3718A33-83A7-4A65-84E3-F0DA3317EF4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D66C0F-BA70-49B4-A3BA-32EB53E26AC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CBF6C2-F792-40FD-847F-B45E7AC198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494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B94C5A-F5F8-4227-95AB-FB0973577D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99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5999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618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26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ABA6DC-48A6-40A7-8469-827C33E962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826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1933D9A-CCD5-4857-BEEB-2318149A0194}"/>
              </a:ext>
            </a:extLst>
          </p:cNvPr>
          <p:cNvSpPr/>
          <p:nvPr/>
        </p:nvSpPr>
        <p:spPr>
          <a:xfrm>
            <a:off x="515938" y="1462088"/>
            <a:ext cx="11160125" cy="4846637"/>
          </a:xfrm>
          <a:prstGeom prst="roundRect">
            <a:avLst>
              <a:gd name="adj" fmla="val 435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5527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82294528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1EB484-7596-4B41-ACD9-B56E8154F0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931" y="84753"/>
            <a:ext cx="4183638" cy="2129247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6B68AC46-80B6-448A-B19B-DED3BD1254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750723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B29CAB-BB63-4ABA-8FF4-B7482DED1E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27608" y="4530174"/>
            <a:ext cx="711453" cy="39489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EDBAE6-B996-4DC6-88CF-F5349E26207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10" y="-163229"/>
            <a:ext cx="2894633" cy="847442"/>
          </a:xfrm>
          <a:prstGeom prst="rect">
            <a:avLst/>
          </a:prstGeom>
        </p:spPr>
      </p:pic>
      <p:sp>
        <p:nvSpPr>
          <p:cNvPr id="12" name="Текст 10">
            <a:extLst>
              <a:ext uri="{FF2B5EF4-FFF2-40B4-BE49-F238E27FC236}">
                <a16:creationId xmlns:a16="http://schemas.microsoft.com/office/drawing/2014/main" id="{03C04067-6286-4177-AEA4-514A9A5D1F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516355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1048153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6128479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1467465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A8E6DB0-5F26-4C22-B59A-251A2298382C}"/>
              </a:ext>
            </a:extLst>
          </p:cNvPr>
          <p:cNvSpPr/>
          <p:nvPr/>
        </p:nvSpPr>
        <p:spPr>
          <a:xfrm>
            <a:off x="6230937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1E7A2CC-7836-4066-AB28-5ED2DF2800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24309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154867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6EA8A30F-D528-429C-BD4E-DC966A621AC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0939" y="909638"/>
            <a:ext cx="5445124" cy="5399087"/>
          </a:xfrm>
          <a:prstGeom prst="roundRect">
            <a:avLst>
              <a:gd name="adj" fmla="val 4671"/>
            </a:avLst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117450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62AC43B-659C-4881-8D67-D1943E609520}"/>
              </a:ext>
            </a:extLst>
          </p:cNvPr>
          <p:cNvSpPr/>
          <p:nvPr/>
        </p:nvSpPr>
        <p:spPr>
          <a:xfrm>
            <a:off x="6225622" y="1340642"/>
            <a:ext cx="5445125" cy="240926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1E830F2-DE22-4F65-A7ED-D49ABED222AD}"/>
              </a:ext>
            </a:extLst>
          </p:cNvPr>
          <p:cNvSpPr/>
          <p:nvPr/>
        </p:nvSpPr>
        <p:spPr>
          <a:xfrm>
            <a:off x="515938" y="3857398"/>
            <a:ext cx="5445125" cy="245137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F87A05D-2039-4200-9BD9-50FDE5993F8F}"/>
              </a:ext>
            </a:extLst>
          </p:cNvPr>
          <p:cNvSpPr/>
          <p:nvPr/>
        </p:nvSpPr>
        <p:spPr>
          <a:xfrm>
            <a:off x="6225622" y="3860559"/>
            <a:ext cx="5445125" cy="2448166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99B1CB3-C07F-4B26-8D26-33212AE9BD64}"/>
              </a:ext>
            </a:extLst>
          </p:cNvPr>
          <p:cNvSpPr/>
          <p:nvPr/>
        </p:nvSpPr>
        <p:spPr>
          <a:xfrm>
            <a:off x="515938" y="1340642"/>
            <a:ext cx="5445125" cy="240839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B8136E-14E5-4486-9D22-7CD73ABA6FE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86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DCD8A0-3895-4870-B455-E0CD6764ED90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86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8DEF0BB-C24C-4467-832C-AFF1CEA8CE5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501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4014174-7CEF-458B-98D7-AA6CE888A35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501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8966599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3C2B-CC54-490B-BE18-FFA6D190CA26}"/>
              </a:ext>
            </a:extLst>
          </p:cNvPr>
          <p:cNvSpPr txBox="1">
            <a:spLocks/>
          </p:cNvSpPr>
          <p:nvPr/>
        </p:nvSpPr>
        <p:spPr>
          <a:xfrm>
            <a:off x="515938" y="631992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3574569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5F8B69-C2CA-40AD-99A2-E650EBF705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3439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Заголовок 8">
            <a:extLst>
              <a:ext uri="{FF2B5EF4-FFF2-40B4-BE49-F238E27FC236}">
                <a16:creationId xmlns:a16="http://schemas.microsoft.com/office/drawing/2014/main" id="{39DD95E3-9141-4F6A-96C3-95FDADFB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3A68EEBA-8CF9-45E7-BDC5-C8DA0A84F3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bg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054266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531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42004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30FE7E-B31F-4CE8-ADDB-462464B3AB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0825" y="1223962"/>
            <a:ext cx="6129338" cy="4410075"/>
          </a:xfrm>
          <a:prstGeom prst="rect">
            <a:avLst/>
          </a:prstGeom>
        </p:spPr>
        <p:txBody>
          <a:bodyPr/>
          <a:lstStyle>
            <a:lvl3pPr marL="0" indent="0">
              <a:buNone/>
              <a:defRPr>
                <a:solidFill>
                  <a:schemeClr val="tx1"/>
                </a:solidFill>
              </a:defRPr>
            </a:lvl3pPr>
          </a:lstStyle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74B8621D-6615-4BA5-A1DE-6C2D9C191B90}"/>
              </a:ext>
            </a:extLst>
          </p:cNvPr>
          <p:cNvSpPr txBox="1">
            <a:spLocks/>
          </p:cNvSpPr>
          <p:nvPr/>
        </p:nvSpPr>
        <p:spPr>
          <a:xfrm>
            <a:off x="5336838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solidFill>
                  <a:schemeClr val="tx2"/>
                </a:solidFill>
                <a:cs typeface="Segoe UI" panose="020B0502040204020203" pitchFamily="34" charset="0"/>
              </a:rPr>
              <a:t>Наши клиенты</a:t>
            </a:r>
            <a:endParaRPr lang="en-US" b="1" dirty="0">
              <a:solidFill>
                <a:schemeClr val="tx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100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6EDFEBCD-DB58-4631-A4A1-88078753BD76}"/>
              </a:ext>
            </a:extLst>
          </p:cNvPr>
          <p:cNvSpPr txBox="1">
            <a:spLocks/>
          </p:cNvSpPr>
          <p:nvPr/>
        </p:nvSpPr>
        <p:spPr>
          <a:xfrm>
            <a:off x="420446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cs typeface="Segoe UI" panose="020B0502040204020203" pitchFamily="34" charset="0"/>
              </a:rPr>
              <a:t>Наши клиенты</a:t>
            </a:r>
            <a:endParaRPr lang="en-US" b="1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975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5567642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46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758410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294154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84CEE6-697C-4CD0-9E97-D0C16436E8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4E979A-DBC9-4A40-868C-FC4341238A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909638"/>
            <a:ext cx="10799762" cy="539908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71165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27182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729AA9C-820E-4055-92DE-1A27073A4B22}"/>
              </a:ext>
            </a:extLst>
          </p:cNvPr>
          <p:cNvGrpSpPr/>
          <p:nvPr/>
        </p:nvGrpSpPr>
        <p:grpSpPr>
          <a:xfrm>
            <a:off x="6861175" y="2259188"/>
            <a:ext cx="4101508" cy="1681686"/>
            <a:chOff x="7114454" y="1739890"/>
            <a:chExt cx="4101508" cy="1681686"/>
          </a:xfrm>
        </p:grpSpPr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70BB403B-33CF-4A61-A8FE-3C719926BD98}"/>
                </a:ext>
              </a:extLst>
            </p:cNvPr>
            <p:cNvSpPr txBox="1"/>
            <p:nvPr/>
          </p:nvSpPr>
          <p:spPr>
            <a:xfrm>
              <a:off x="7716000" y="234990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sz="2400" b="1" dirty="0">
                  <a:solidFill>
                    <a:schemeClr val="bg1"/>
                  </a:solidFill>
                  <a:ea typeface="Blogger Sans" pitchFamily="50" charset="0"/>
                </a:rPr>
                <a:t>info@neoflex.ru </a:t>
              </a:r>
              <a:endParaRPr lang="pt-BR" sz="2400" b="1" dirty="0">
                <a:solidFill>
                  <a:schemeClr val="bg1"/>
                </a:solidFill>
                <a:ea typeface="Blogger Sans" pitchFamily="50" charset="0"/>
              </a:endParaRPr>
            </a:p>
          </p:txBody>
        </p:sp>
        <p:grpSp>
          <p:nvGrpSpPr>
            <p:cNvPr id="18" name="Google Shape;6126;p50">
              <a:extLst>
                <a:ext uri="{FF2B5EF4-FFF2-40B4-BE49-F238E27FC236}">
                  <a16:creationId xmlns:a16="http://schemas.microsoft.com/office/drawing/2014/main" id="{9E41C2B5-9501-4C6E-880E-39C2FBD2A181}"/>
                </a:ext>
              </a:extLst>
            </p:cNvPr>
            <p:cNvGrpSpPr/>
            <p:nvPr/>
          </p:nvGrpSpPr>
          <p:grpSpPr>
            <a:xfrm>
              <a:off x="7114454" y="1786436"/>
              <a:ext cx="436493" cy="434191"/>
              <a:chOff x="-35853975" y="2631825"/>
              <a:chExt cx="293800" cy="292250"/>
            </a:xfrm>
            <a:solidFill>
              <a:schemeClr val="bg1"/>
            </a:solidFill>
          </p:grpSpPr>
          <p:sp>
            <p:nvSpPr>
              <p:cNvPr id="23" name="Google Shape;6127;p50">
                <a:extLst>
                  <a:ext uri="{FF2B5EF4-FFF2-40B4-BE49-F238E27FC236}">
                    <a16:creationId xmlns:a16="http://schemas.microsoft.com/office/drawing/2014/main" id="{D4596B65-E50F-483C-8EEF-CEF355737C14}"/>
                  </a:ext>
                </a:extLst>
              </p:cNvPr>
              <p:cNvSpPr/>
              <p:nvPr/>
            </p:nvSpPr>
            <p:spPr>
              <a:xfrm>
                <a:off x="-35813025" y="2701825"/>
                <a:ext cx="201675" cy="171925"/>
              </a:xfrm>
              <a:custGeom>
                <a:avLst/>
                <a:gdLst/>
                <a:ahLst/>
                <a:cxnLst/>
                <a:rect l="l" t="t" r="r" b="b"/>
                <a:pathLst>
                  <a:path w="8067" h="6877" extrusionOk="0">
                    <a:moveTo>
                      <a:pt x="1765" y="824"/>
                    </a:moveTo>
                    <a:lnTo>
                      <a:pt x="2868" y="1643"/>
                    </a:lnTo>
                    <a:lnTo>
                      <a:pt x="2238" y="2462"/>
                    </a:lnTo>
                    <a:cubicBezTo>
                      <a:pt x="2112" y="2620"/>
                      <a:pt x="2143" y="2840"/>
                      <a:pt x="2301" y="2935"/>
                    </a:cubicBezTo>
                    <a:lnTo>
                      <a:pt x="5042" y="4983"/>
                    </a:lnTo>
                    <a:cubicBezTo>
                      <a:pt x="5108" y="5035"/>
                      <a:pt x="5179" y="5060"/>
                      <a:pt x="5246" y="5060"/>
                    </a:cubicBezTo>
                    <a:cubicBezTo>
                      <a:pt x="5341" y="5060"/>
                      <a:pt x="5428" y="5011"/>
                      <a:pt x="5483" y="4920"/>
                    </a:cubicBezTo>
                    <a:lnTo>
                      <a:pt x="6113" y="4100"/>
                    </a:lnTo>
                    <a:lnTo>
                      <a:pt x="7247" y="4920"/>
                    </a:lnTo>
                    <a:lnTo>
                      <a:pt x="6554" y="5739"/>
                    </a:lnTo>
                    <a:cubicBezTo>
                      <a:pt x="6348" y="6001"/>
                      <a:pt x="6042" y="6152"/>
                      <a:pt x="5735" y="6152"/>
                    </a:cubicBezTo>
                    <a:cubicBezTo>
                      <a:pt x="5525" y="6152"/>
                      <a:pt x="5315" y="6081"/>
                      <a:pt x="5136" y="5928"/>
                    </a:cubicBezTo>
                    <a:lnTo>
                      <a:pt x="1324" y="3061"/>
                    </a:lnTo>
                    <a:cubicBezTo>
                      <a:pt x="883" y="2714"/>
                      <a:pt x="757" y="2084"/>
                      <a:pt x="1135" y="1643"/>
                    </a:cubicBezTo>
                    <a:lnTo>
                      <a:pt x="1765" y="824"/>
                    </a:lnTo>
                    <a:close/>
                    <a:moveTo>
                      <a:pt x="1647" y="1"/>
                    </a:moveTo>
                    <a:cubicBezTo>
                      <a:pt x="1540" y="1"/>
                      <a:pt x="1435" y="63"/>
                      <a:pt x="1356" y="162"/>
                    </a:cubicBezTo>
                    <a:lnTo>
                      <a:pt x="537" y="1265"/>
                    </a:lnTo>
                    <a:cubicBezTo>
                      <a:pt x="1" y="1990"/>
                      <a:pt x="95" y="3061"/>
                      <a:pt x="883" y="3659"/>
                    </a:cubicBezTo>
                    <a:lnTo>
                      <a:pt x="4727" y="6526"/>
                    </a:lnTo>
                    <a:cubicBezTo>
                      <a:pt x="5026" y="6760"/>
                      <a:pt x="5384" y="6876"/>
                      <a:pt x="5744" y="6876"/>
                    </a:cubicBezTo>
                    <a:cubicBezTo>
                      <a:pt x="6255" y="6876"/>
                      <a:pt x="6770" y="6642"/>
                      <a:pt x="7121" y="6180"/>
                    </a:cubicBezTo>
                    <a:lnTo>
                      <a:pt x="7940" y="5077"/>
                    </a:lnTo>
                    <a:cubicBezTo>
                      <a:pt x="8066" y="4888"/>
                      <a:pt x="8003" y="4668"/>
                      <a:pt x="7846" y="4573"/>
                    </a:cubicBezTo>
                    <a:lnTo>
                      <a:pt x="6207" y="3344"/>
                    </a:lnTo>
                    <a:cubicBezTo>
                      <a:pt x="6142" y="3292"/>
                      <a:pt x="6070" y="3267"/>
                      <a:pt x="6001" y="3267"/>
                    </a:cubicBezTo>
                    <a:cubicBezTo>
                      <a:pt x="5903" y="3267"/>
                      <a:pt x="5808" y="3316"/>
                      <a:pt x="5735" y="3407"/>
                    </a:cubicBezTo>
                    <a:lnTo>
                      <a:pt x="5105" y="4258"/>
                    </a:lnTo>
                    <a:lnTo>
                      <a:pt x="2931" y="2588"/>
                    </a:lnTo>
                    <a:lnTo>
                      <a:pt x="3561" y="1769"/>
                    </a:lnTo>
                    <a:cubicBezTo>
                      <a:pt x="3687" y="1612"/>
                      <a:pt x="3656" y="1423"/>
                      <a:pt x="3498" y="1297"/>
                    </a:cubicBezTo>
                    <a:lnTo>
                      <a:pt x="1828" y="68"/>
                    </a:lnTo>
                    <a:cubicBezTo>
                      <a:pt x="1770" y="22"/>
                      <a:pt x="1708" y="1"/>
                      <a:pt x="16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" name="Google Shape;6128;p50">
                <a:extLst>
                  <a:ext uri="{FF2B5EF4-FFF2-40B4-BE49-F238E27FC236}">
                    <a16:creationId xmlns:a16="http://schemas.microsoft.com/office/drawing/2014/main" id="{6BA8D542-5CEC-4C25-810A-3D1F170EAFD7}"/>
                  </a:ext>
                </a:extLst>
              </p:cNvPr>
              <p:cNvSpPr/>
              <p:nvPr/>
            </p:nvSpPr>
            <p:spPr>
              <a:xfrm>
                <a:off x="-35853975" y="2631825"/>
                <a:ext cx="293800" cy="292250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690" extrusionOk="0">
                    <a:moveTo>
                      <a:pt x="5861" y="662"/>
                    </a:moveTo>
                    <a:cubicBezTo>
                      <a:pt x="8696" y="662"/>
                      <a:pt x="11027" y="2994"/>
                      <a:pt x="11027" y="5829"/>
                    </a:cubicBezTo>
                    <a:cubicBezTo>
                      <a:pt x="11027" y="6806"/>
                      <a:pt x="10744" y="7751"/>
                      <a:pt x="10240" y="8539"/>
                    </a:cubicBezTo>
                    <a:cubicBezTo>
                      <a:pt x="10177" y="8665"/>
                      <a:pt x="10114" y="8791"/>
                      <a:pt x="10177" y="8854"/>
                    </a:cubicBezTo>
                    <a:lnTo>
                      <a:pt x="10807" y="10776"/>
                    </a:lnTo>
                    <a:lnTo>
                      <a:pt x="8854" y="10145"/>
                    </a:lnTo>
                    <a:cubicBezTo>
                      <a:pt x="8837" y="10137"/>
                      <a:pt x="8815" y="10133"/>
                      <a:pt x="8792" y="10133"/>
                    </a:cubicBezTo>
                    <a:cubicBezTo>
                      <a:pt x="8728" y="10133"/>
                      <a:pt x="8648" y="10162"/>
                      <a:pt x="8602" y="10208"/>
                    </a:cubicBezTo>
                    <a:cubicBezTo>
                      <a:pt x="7751" y="10713"/>
                      <a:pt x="6806" y="10996"/>
                      <a:pt x="5861" y="10996"/>
                    </a:cubicBezTo>
                    <a:cubicBezTo>
                      <a:pt x="3025" y="10996"/>
                      <a:pt x="725" y="8665"/>
                      <a:pt x="725" y="5829"/>
                    </a:cubicBezTo>
                    <a:cubicBezTo>
                      <a:pt x="725" y="2994"/>
                      <a:pt x="3025" y="662"/>
                      <a:pt x="5861" y="662"/>
                    </a:cubicBezTo>
                    <a:close/>
                    <a:moveTo>
                      <a:pt x="5829" y="1"/>
                    </a:moveTo>
                    <a:cubicBezTo>
                      <a:pt x="2616" y="1"/>
                      <a:pt x="1" y="2647"/>
                      <a:pt x="1" y="5829"/>
                    </a:cubicBezTo>
                    <a:cubicBezTo>
                      <a:pt x="1" y="7373"/>
                      <a:pt x="599" y="8854"/>
                      <a:pt x="1733" y="9956"/>
                    </a:cubicBezTo>
                    <a:cubicBezTo>
                      <a:pt x="2836" y="11059"/>
                      <a:pt x="4285" y="11689"/>
                      <a:pt x="5861" y="11689"/>
                    </a:cubicBezTo>
                    <a:cubicBezTo>
                      <a:pt x="6900" y="11689"/>
                      <a:pt x="7908" y="11406"/>
                      <a:pt x="8822" y="10870"/>
                    </a:cubicBezTo>
                    <a:lnTo>
                      <a:pt x="11279" y="11658"/>
                    </a:lnTo>
                    <a:cubicBezTo>
                      <a:pt x="11303" y="11666"/>
                      <a:pt x="11331" y="11669"/>
                      <a:pt x="11360" y="11669"/>
                    </a:cubicBezTo>
                    <a:cubicBezTo>
                      <a:pt x="11449" y="11669"/>
                      <a:pt x="11555" y="11634"/>
                      <a:pt x="11626" y="11563"/>
                    </a:cubicBezTo>
                    <a:cubicBezTo>
                      <a:pt x="11689" y="11500"/>
                      <a:pt x="11752" y="11343"/>
                      <a:pt x="11689" y="11217"/>
                    </a:cubicBezTo>
                    <a:lnTo>
                      <a:pt x="10901" y="8791"/>
                    </a:lnTo>
                    <a:cubicBezTo>
                      <a:pt x="11469" y="7877"/>
                      <a:pt x="11752" y="6837"/>
                      <a:pt x="11752" y="5829"/>
                    </a:cubicBezTo>
                    <a:cubicBezTo>
                      <a:pt x="11689" y="2647"/>
                      <a:pt x="9074" y="1"/>
                      <a:pt x="58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" name="Google Shape;6129;p50">
                <a:extLst>
                  <a:ext uri="{FF2B5EF4-FFF2-40B4-BE49-F238E27FC236}">
                    <a16:creationId xmlns:a16="http://schemas.microsoft.com/office/drawing/2014/main" id="{094D9CB4-7A39-4B5F-8C9C-8918EDCEBFB0}"/>
                  </a:ext>
                </a:extLst>
              </p:cNvPr>
              <p:cNvSpPr/>
              <p:nvPr/>
            </p:nvSpPr>
            <p:spPr>
              <a:xfrm>
                <a:off x="-35715350" y="2735025"/>
                <a:ext cx="49650" cy="40675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627" extrusionOk="0">
                    <a:moveTo>
                      <a:pt x="410" y="0"/>
                    </a:moveTo>
                    <a:cubicBezTo>
                      <a:pt x="221" y="0"/>
                      <a:pt x="64" y="126"/>
                      <a:pt x="64" y="315"/>
                    </a:cubicBezTo>
                    <a:cubicBezTo>
                      <a:pt x="1" y="504"/>
                      <a:pt x="158" y="662"/>
                      <a:pt x="379" y="662"/>
                    </a:cubicBezTo>
                    <a:cubicBezTo>
                      <a:pt x="788" y="725"/>
                      <a:pt x="1166" y="977"/>
                      <a:pt x="1261" y="1386"/>
                    </a:cubicBezTo>
                    <a:cubicBezTo>
                      <a:pt x="1311" y="1536"/>
                      <a:pt x="1439" y="1626"/>
                      <a:pt x="1585" y="1626"/>
                    </a:cubicBezTo>
                    <a:cubicBezTo>
                      <a:pt x="1623" y="1626"/>
                      <a:pt x="1662" y="1620"/>
                      <a:pt x="1702" y="1607"/>
                    </a:cubicBezTo>
                    <a:cubicBezTo>
                      <a:pt x="1891" y="1575"/>
                      <a:pt x="1985" y="1386"/>
                      <a:pt x="1954" y="1197"/>
                    </a:cubicBezTo>
                    <a:cubicBezTo>
                      <a:pt x="1733" y="504"/>
                      <a:pt x="1103" y="32"/>
                      <a:pt x="41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" name="Google Shape;6130;p50">
                <a:extLst>
                  <a:ext uri="{FF2B5EF4-FFF2-40B4-BE49-F238E27FC236}">
                    <a16:creationId xmlns:a16="http://schemas.microsoft.com/office/drawing/2014/main" id="{6A885F60-0097-4801-A6A0-57CACDFD3D41}"/>
                  </a:ext>
                </a:extLst>
              </p:cNvPr>
              <p:cNvSpPr/>
              <p:nvPr/>
            </p:nvSpPr>
            <p:spPr>
              <a:xfrm>
                <a:off x="-35705900" y="2667275"/>
                <a:ext cx="107925" cy="101750"/>
              </a:xfrm>
              <a:custGeom>
                <a:avLst/>
                <a:gdLst/>
                <a:ahLst/>
                <a:cxnLst/>
                <a:rect l="l" t="t" r="r" b="b"/>
                <a:pathLst>
                  <a:path w="4317" h="4070" extrusionOk="0">
                    <a:moveTo>
                      <a:pt x="347" y="1"/>
                    </a:moveTo>
                    <a:cubicBezTo>
                      <a:pt x="158" y="1"/>
                      <a:pt x="1" y="127"/>
                      <a:pt x="1" y="316"/>
                    </a:cubicBezTo>
                    <a:cubicBezTo>
                      <a:pt x="1" y="505"/>
                      <a:pt x="95" y="662"/>
                      <a:pt x="316" y="662"/>
                    </a:cubicBezTo>
                    <a:cubicBezTo>
                      <a:pt x="2048" y="820"/>
                      <a:pt x="3372" y="2111"/>
                      <a:pt x="3655" y="3781"/>
                    </a:cubicBezTo>
                    <a:cubicBezTo>
                      <a:pt x="3683" y="3951"/>
                      <a:pt x="3813" y="4070"/>
                      <a:pt x="3976" y="4070"/>
                    </a:cubicBezTo>
                    <a:cubicBezTo>
                      <a:pt x="3995" y="4070"/>
                      <a:pt x="4014" y="4068"/>
                      <a:pt x="4033" y="4065"/>
                    </a:cubicBezTo>
                    <a:cubicBezTo>
                      <a:pt x="4191" y="4065"/>
                      <a:pt x="4317" y="3844"/>
                      <a:pt x="4317" y="3687"/>
                    </a:cubicBezTo>
                    <a:cubicBezTo>
                      <a:pt x="4002" y="1733"/>
                      <a:pt x="2364" y="190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7" name="Google Shape;6131;p50">
                <a:extLst>
                  <a:ext uri="{FF2B5EF4-FFF2-40B4-BE49-F238E27FC236}">
                    <a16:creationId xmlns:a16="http://schemas.microsoft.com/office/drawing/2014/main" id="{9EF5F08C-8C75-439E-8D9F-72ED5212341E}"/>
                  </a:ext>
                </a:extLst>
              </p:cNvPr>
              <p:cNvSpPr/>
              <p:nvPr/>
            </p:nvSpPr>
            <p:spPr>
              <a:xfrm>
                <a:off x="-35709825" y="2700350"/>
                <a:ext cx="77200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088" h="2748" extrusionOk="0">
                    <a:moveTo>
                      <a:pt x="347" y="1"/>
                    </a:moveTo>
                    <a:cubicBezTo>
                      <a:pt x="158" y="1"/>
                      <a:pt x="0" y="127"/>
                      <a:pt x="0" y="316"/>
                    </a:cubicBezTo>
                    <a:cubicBezTo>
                      <a:pt x="0" y="536"/>
                      <a:pt x="95" y="694"/>
                      <a:pt x="315" y="725"/>
                    </a:cubicBezTo>
                    <a:cubicBezTo>
                      <a:pt x="1323" y="788"/>
                      <a:pt x="2142" y="1545"/>
                      <a:pt x="2394" y="2490"/>
                    </a:cubicBezTo>
                    <a:cubicBezTo>
                      <a:pt x="2422" y="2655"/>
                      <a:pt x="2570" y="2748"/>
                      <a:pt x="2753" y="2748"/>
                    </a:cubicBezTo>
                    <a:cubicBezTo>
                      <a:pt x="2780" y="2748"/>
                      <a:pt x="2808" y="2746"/>
                      <a:pt x="2836" y="2742"/>
                    </a:cubicBezTo>
                    <a:cubicBezTo>
                      <a:pt x="3025" y="2679"/>
                      <a:pt x="3088" y="2490"/>
                      <a:pt x="3056" y="2301"/>
                    </a:cubicBezTo>
                    <a:cubicBezTo>
                      <a:pt x="2741" y="1072"/>
                      <a:pt x="1670" y="127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9" name="Google Shape;7858;p54">
              <a:extLst>
                <a:ext uri="{FF2B5EF4-FFF2-40B4-BE49-F238E27FC236}">
                  <a16:creationId xmlns:a16="http://schemas.microsoft.com/office/drawing/2014/main" id="{8C7E32B9-52ED-4694-9937-7E02E79274C8}"/>
                </a:ext>
              </a:extLst>
            </p:cNvPr>
            <p:cNvSpPr/>
            <p:nvPr/>
          </p:nvSpPr>
          <p:spPr>
            <a:xfrm>
              <a:off x="7137689" y="2475141"/>
              <a:ext cx="396843" cy="278859"/>
            </a:xfrm>
            <a:custGeom>
              <a:avLst/>
              <a:gdLst/>
              <a:ahLst/>
              <a:cxnLst/>
              <a:rect l="l" t="t" r="r" b="b"/>
              <a:pathLst>
                <a:path w="11658" h="8192" extrusionOk="0">
                  <a:moveTo>
                    <a:pt x="10429" y="662"/>
                  </a:moveTo>
                  <a:cubicBezTo>
                    <a:pt x="10114" y="1008"/>
                    <a:pt x="6207" y="4915"/>
                    <a:pt x="6081" y="5072"/>
                  </a:cubicBezTo>
                  <a:cubicBezTo>
                    <a:pt x="6018" y="5135"/>
                    <a:pt x="5916" y="5167"/>
                    <a:pt x="5813" y="5167"/>
                  </a:cubicBezTo>
                  <a:cubicBezTo>
                    <a:pt x="5711" y="5167"/>
                    <a:pt x="5608" y="5135"/>
                    <a:pt x="5545" y="5072"/>
                  </a:cubicBezTo>
                  <a:lnTo>
                    <a:pt x="1135" y="662"/>
                  </a:lnTo>
                  <a:close/>
                  <a:moveTo>
                    <a:pt x="662" y="1134"/>
                  </a:moveTo>
                  <a:lnTo>
                    <a:pt x="3624" y="4096"/>
                  </a:lnTo>
                  <a:lnTo>
                    <a:pt x="662" y="7057"/>
                  </a:lnTo>
                  <a:lnTo>
                    <a:pt x="662" y="1134"/>
                  </a:lnTo>
                  <a:close/>
                  <a:moveTo>
                    <a:pt x="10996" y="1134"/>
                  </a:moveTo>
                  <a:lnTo>
                    <a:pt x="10996" y="7057"/>
                  </a:lnTo>
                  <a:lnTo>
                    <a:pt x="8034" y="4096"/>
                  </a:lnTo>
                  <a:lnTo>
                    <a:pt x="10996" y="1134"/>
                  </a:lnTo>
                  <a:close/>
                  <a:moveTo>
                    <a:pt x="7562" y="4568"/>
                  </a:moveTo>
                  <a:lnTo>
                    <a:pt x="10492" y="7530"/>
                  </a:lnTo>
                  <a:lnTo>
                    <a:pt x="1198" y="7530"/>
                  </a:lnTo>
                  <a:lnTo>
                    <a:pt x="4096" y="4568"/>
                  </a:lnTo>
                  <a:lnTo>
                    <a:pt x="5073" y="5545"/>
                  </a:lnTo>
                  <a:cubicBezTo>
                    <a:pt x="5278" y="5750"/>
                    <a:pt x="5553" y="5852"/>
                    <a:pt x="5829" y="5852"/>
                  </a:cubicBezTo>
                  <a:cubicBezTo>
                    <a:pt x="6105" y="5852"/>
                    <a:pt x="6380" y="5750"/>
                    <a:pt x="6585" y="5545"/>
                  </a:cubicBezTo>
                  <a:lnTo>
                    <a:pt x="7562" y="4568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7152"/>
                  </a:lnTo>
                  <a:cubicBezTo>
                    <a:pt x="1" y="7719"/>
                    <a:pt x="473" y="8191"/>
                    <a:pt x="1009" y="8191"/>
                  </a:cubicBezTo>
                  <a:lnTo>
                    <a:pt x="10618" y="8191"/>
                  </a:lnTo>
                  <a:cubicBezTo>
                    <a:pt x="11185" y="8191"/>
                    <a:pt x="11657" y="7719"/>
                    <a:pt x="11657" y="7152"/>
                  </a:cubicBezTo>
                  <a:lnTo>
                    <a:pt x="11657" y="1008"/>
                  </a:lnTo>
                  <a:cubicBezTo>
                    <a:pt x="11657" y="441"/>
                    <a:pt x="11185" y="0"/>
                    <a:pt x="1061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5C12263A-B9EB-4F04-A642-B2A23505B7AE}"/>
                </a:ext>
              </a:extLst>
            </p:cNvPr>
            <p:cNvSpPr txBox="1"/>
            <p:nvPr/>
          </p:nvSpPr>
          <p:spPr>
            <a:xfrm>
              <a:off x="7716000" y="295991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www.neoflex.ru</a:t>
              </a: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69D30DAB-1C99-4723-9230-4E5423ABC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15803" y="2973649"/>
              <a:ext cx="434191" cy="434191"/>
            </a:xfrm>
            <a:prstGeom prst="rect">
              <a:avLst/>
            </a:prstGeom>
          </p:spPr>
        </p:pic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CDDFE2C-5F2C-42DE-9455-F6217757770F}"/>
                </a:ext>
              </a:extLst>
            </p:cNvPr>
            <p:cNvSpPr txBox="1"/>
            <p:nvPr/>
          </p:nvSpPr>
          <p:spPr>
            <a:xfrm>
              <a:off x="7716000" y="1739890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1219170" rtl="0" eaLnBrk="1" fontAlgn="auto" latinLnBrk="0" hangingPunct="1">
                <a:spcBef>
                  <a:spcPts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+7 (495) 984-25-13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5133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02703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393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5146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196452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847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5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9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73.xml"/><Relationship Id="rId47" Type="http://schemas.openxmlformats.org/officeDocument/2006/relationships/slideLayout" Target="../slideLayouts/slideLayout78.xml"/><Relationship Id="rId50" Type="http://schemas.openxmlformats.org/officeDocument/2006/relationships/slideLayout" Target="../slideLayouts/slideLayout81.xml"/><Relationship Id="rId55" Type="http://schemas.openxmlformats.org/officeDocument/2006/relationships/slideLayout" Target="../slideLayouts/slideLayout86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63.xml"/><Relationship Id="rId37" Type="http://schemas.openxmlformats.org/officeDocument/2006/relationships/slideLayout" Target="../slideLayouts/slideLayout68.xml"/><Relationship Id="rId40" Type="http://schemas.openxmlformats.org/officeDocument/2006/relationships/slideLayout" Target="../slideLayouts/slideLayout71.xml"/><Relationship Id="rId45" Type="http://schemas.openxmlformats.org/officeDocument/2006/relationships/slideLayout" Target="../slideLayouts/slideLayout76.xml"/><Relationship Id="rId53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35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74.xml"/><Relationship Id="rId48" Type="http://schemas.openxmlformats.org/officeDocument/2006/relationships/slideLayout" Target="../slideLayouts/slideLayout79.xml"/><Relationship Id="rId56" Type="http://schemas.openxmlformats.org/officeDocument/2006/relationships/slideLayout" Target="../slideLayouts/slideLayout87.xml"/><Relationship Id="rId8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82.xml"/><Relationship Id="rId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64.xml"/><Relationship Id="rId38" Type="http://schemas.openxmlformats.org/officeDocument/2006/relationships/slideLayout" Target="../slideLayouts/slideLayout69.xml"/><Relationship Id="rId4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85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67.xml"/><Relationship Id="rId49" Type="http://schemas.openxmlformats.org/officeDocument/2006/relationships/slideLayout" Target="../slideLayouts/slideLayout8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2.xml"/><Relationship Id="rId44" Type="http://schemas.openxmlformats.org/officeDocument/2006/relationships/slideLayout" Target="../slideLayouts/slideLayout75.xml"/><Relationship Id="rId52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831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01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4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  <p:sldLayoutId id="2147483738" r:id="rId47"/>
    <p:sldLayoutId id="2147483739" r:id="rId48"/>
    <p:sldLayoutId id="2147483740" r:id="rId49"/>
    <p:sldLayoutId id="2147483741" r:id="rId50"/>
    <p:sldLayoutId id="2147483742" r:id="rId51"/>
    <p:sldLayoutId id="2147483743" r:id="rId52"/>
    <p:sldLayoutId id="2147483744" r:id="rId53"/>
    <p:sldLayoutId id="2147483745" r:id="rId54"/>
    <p:sldLayoutId id="2147483746" r:id="rId55"/>
    <p:sldLayoutId id="2147483747" r:id="rId56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  <p15:guide id="13" pos="3925">
          <p15:clr>
            <a:srgbClr val="F26B43"/>
          </p15:clr>
        </p15:guide>
        <p15:guide id="14" pos="37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3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3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3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3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3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3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3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3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3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3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65F73BCB-D241-4760-A765-2A82876FF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19, 2026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A8E2C4-18F6-41BF-838A-464A5E49E1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80585" y="2401617"/>
            <a:ext cx="10129838" cy="232251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1200"/>
              </a:spcAft>
            </a:pPr>
            <a:r>
              <a:rPr lang="ru-RU" sz="3600" dirty="0">
                <a:solidFill>
                  <a:schemeClr val="bg1"/>
                </a:solidFill>
                <a:latin typeface="+mj-lt"/>
              </a:rPr>
              <a:t>КУРС ПО FLUTTER · ЛЕКЦИЯ 19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Анимации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От AnimatedContainer до Hero и Lottie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19,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План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Основы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Зачем нужны анимации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Имплицитные анимации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Явные анимации и AnimationController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Инструменты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Кривые (Curves)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AnimatedBuilder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Hero-анимации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Переходы и полировка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Кастомные переходы (PageRouteBuilder)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Lottie-анимации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Практика: оживляем CineTrack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нужны анимации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19,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Анимация — инструмент коммуникации с пользователем, а не украшение интерфейса.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Обратная связь</a:t>
            </a:r>
          </a:p>
          <a:p>
            <a:r>
              <a:rPr lang="ru-RU" sz="1600" dirty="0"/>
              <a:t>Нажатие кнопки, добавление в избранное, загрузка данных — пользователь видит реакцию приложения.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Ориентация в пространстве</a:t>
            </a:r>
          </a:p>
          <a:p>
            <a:r>
              <a:rPr lang="ru-RU" b="0" dirty="0">
                <a:solidFill>
                  <a:schemeClr val="tx1"/>
                </a:solidFill>
              </a:rPr>
              <a:t>Переход между экранами показывает, «откуда пришёл» новый экран и как вернуться назад.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Ощущение живости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Статичный интерфейс кажется мёртвым, анимированный — отзывчивым и современным.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Акцент внимания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Движение направляет взгляд пользователя на важный элемент экрана.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3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19,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Имплицитные анимации</a:t>
            </a:r>
          </a:p>
          <a:p>
            <a:r>
              <a:rPr lang="ru-RU" dirty="0"/>
              <a:t>Меняем значение — Flutter анимирует сам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Имплицитные анимации: базовые виджеты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19,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Контроллер создавать не нужно — достаточно изменить значение свойства в setState.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AnimatedContainer</a:t>
            </a:r>
          </a:p>
          <a:p>
            <a:r>
              <a:rPr lang="ru-RU" sz="1600" dirty="0"/>
              <a:t>Плавно анимирует размер, цвет, отступы, скругления и тень обычного Container.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AnimatedOpacity</a:t>
            </a:r>
          </a:p>
          <a:p>
            <a:r>
              <a:rPr lang="ru-RU" b="0" dirty="0">
                <a:solidFill>
                  <a:schemeClr val="tx1"/>
                </a:solidFill>
              </a:rPr>
              <a:t>Плавно меняет прозрачность виджета, например появление карточки после загрузки.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AnimatedPadding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Плавно анимирует изменение внутренних отступов виджета.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AnimatedAlign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Плавно перемещает виджет внутри родителя при смене выравнивания.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5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19,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AnimatedSwitcher и TweenAnimationBuilder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AnimatedSwitcher</a:t>
            </a:r>
          </a:p>
          <a:p>
            <a:pPr>
              <a:spcAft>
                <a:spcPts val="600"/>
              </a:spcAft>
            </a:pPr>
            <a:r>
              <a:rPr lang="ru-RU" dirty="0"/>
              <a:t>Анимирует смену одного дочернего виджета другим. Каждому варианту нужен свой key, иначе Flutter не поймёт, что виджет изменился.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TweenAnimationBuilder</a:t>
            </a:r>
          </a:p>
          <a:p>
            <a:pPr>
              <a:spcAft>
                <a:spcPts val="600"/>
              </a:spcAft>
            </a:pPr>
            <a:r>
              <a:rPr lang="ru-RU" dirty="0"/>
              <a:t>Универсальный builder для имплицитной анимации произвольного значения: угла, числа, смещения — без встроенного свойства виджета.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ColorTween и другие Tween</a:t>
            </a:r>
          </a:p>
          <a:p>
            <a:pPr>
              <a:spcAft>
                <a:spcPts val="600"/>
              </a:spcAft>
            </a:pPr>
            <a:r>
              <a:rPr lang="ru-RU" dirty="0"/>
              <a:t>Типизированные Tween (ColorTween, Tween&lt;Offset&gt;) описывают диапазон значений и используются как в имплицитных, так и в явных анимациях.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6</a:t>
            </a:fld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19,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7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Явные анимации</a:t>
            </a:r>
          </a:p>
          <a:p>
            <a:r>
              <a:rPr lang="ru-RU" dirty="0"/>
              <a:t>Полный контроль через AnimationController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19,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AnimationController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vsync и mixin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Синхронизирует анимацию с частотой экрана (~60 fps)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SingleTickerProviderStateMixin — один контроллер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TickerProviderStateMixin — несколько контроллеров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controller.dispose() — обязателен, иначе утечка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Управление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forward() — воспроизвести вперёд (0 → 1)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reverse() — воспроизвести назад (1 → 0)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repeat() и repeat(reverse: true) — зациклить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stop() и reset() — остановить и сбросить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Tween — диапазон значений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Tween&lt;double&gt; — число, например прозрачность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Tween&lt;Offset&gt; — смещение виджета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ColorTween — переход между цветами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.animate(controller) привязывает Tween к контроллеру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8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19,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AnimatedBuilder: эффективная перестройка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animation</a:t>
            </a:r>
          </a:p>
          <a:p>
            <a:pPr>
              <a:spcAft>
                <a:spcPts val="600"/>
              </a:spcAft>
            </a:pPr>
            <a:r>
              <a:rPr lang="ru-RU" dirty="0"/>
              <a:t>Контроллер или Animation, за изменением которого AnimatedBuilder следит и перестраивается на каждом кадре.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builder</a:t>
            </a:r>
          </a:p>
          <a:p>
            <a:pPr>
              <a:spcAft>
                <a:spcPts val="600"/>
              </a:spcAft>
            </a:pPr>
            <a:r>
              <a:rPr lang="ru-RU" dirty="0"/>
              <a:t>Функция, которая возвращает только ту часть дерева, что реально зависит от текущего значения анимации.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child</a:t>
            </a:r>
          </a:p>
          <a:p>
            <a:pPr>
              <a:spcAft>
                <a:spcPts val="600"/>
              </a:spcAft>
            </a:pPr>
            <a:r>
              <a:rPr lang="ru-RU" dirty="0"/>
              <a:t>Не зависит от анимации, создаётся один раз и переиспользуется — это делает перестройку дешёвой.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9</a:t>
            </a:fld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19,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10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Кривые (Curves)</a:t>
            </a:r>
          </a:p>
          <a:p>
            <a:r>
              <a:rPr lang="ru-RU" dirty="0"/>
              <a:t>Как значение меняется во времени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19,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Кривые: равномерно, с разгоном или с отскоком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Linear и ease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linear — равномерная скорость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easeIn — начинает медленно, ускоряется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easeOut — начинает быстро, замедляется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easeInOut — медленно → быстро → медленно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Эффектные кривые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bounceOut — в конце несколько раз отскакивает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elasticIn — «резиновый» эффект в начале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Практика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fastOutSlowIn — стандарт Material Design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CurvedAnimation оборачивает controller + curve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curve передаётся и в AnimatedContainer, и в Tween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11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Имплицитные vs явные анимации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19,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Имплицитные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Автоматический переход при смене значения свойства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AnimationController создавать не нужно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AnimatedContainer, AnimatedOpacity, AnimatedSwitcher, TweenAnimationBuilder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Хороши для простых точечных переходов состояния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Явные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Полный контроль: forward, reverse, repeat, stop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Нужен AnimationController + vsync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Tween задаёт диапазон, AnimatedBuilder — эффективную перестройку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Хороши для зацикленных и составных анимаций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12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19,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Hero-анимации и переходы между экранами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19,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Hero: анимация между экранами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Один tag на двух экранах</a:t>
            </a:r>
          </a:p>
          <a:p>
            <a:pPr>
              <a:spcAft>
                <a:spcPts val="600"/>
              </a:spcAft>
            </a:pPr>
            <a:r>
              <a:rPr lang="ru-RU" dirty="0"/>
              <a:t>Flutter сам анимирует перелёт виджета с одного экрана на другой при навигации, дополнительный код не нужен.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Уникальность тега</a:t>
            </a:r>
          </a:p>
          <a:p>
            <a:pPr>
              <a:spcAft>
                <a:spcPts val="600"/>
              </a:spcAft>
            </a:pPr>
            <a:r>
              <a:rPr lang="ru-RU" dirty="0"/>
              <a:t>Если на одном экране встречаются два одинаковых Hero-тега, Flutter выбрасывает ошибку.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Пример: постер фильма</a:t>
            </a:r>
          </a:p>
          <a:p>
            <a:pPr>
              <a:spcAft>
                <a:spcPts val="600"/>
              </a:spcAft>
            </a:pPr>
            <a:r>
              <a:rPr lang="ru-RU" dirty="0"/>
              <a:t>Hero с tag 'movie-poster-${movie.id}' на карточке в списке и на экране деталей — постер плавно увеличивается.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14</a:t>
            </a:fld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19,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PageRouteBuilder: кастомные переходы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Fade-переход</a:t>
            </a:r>
          </a:p>
          <a:p>
            <a:pPr>
              <a:spcAft>
                <a:spcPts val="600"/>
              </a:spcAft>
            </a:pPr>
            <a:r>
              <a:rPr lang="ru-RU" dirty="0"/>
              <a:t>FadeTransition с opacity: animation — экран постепенно проявляется поверх предыдущего.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Slide снизу вверх</a:t>
            </a:r>
          </a:p>
          <a:p>
            <a:pPr>
              <a:spcAft>
                <a:spcPts val="600"/>
              </a:spcAft>
            </a:pPr>
            <a:r>
              <a:rPr lang="ru-RU" dirty="0"/>
              <a:t>SlideTransition с Tween&lt;Offset&gt;(begin: Offset(0,1), end: Offset.zero) и CurveTween(easeOut).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Scale-переход</a:t>
            </a:r>
          </a:p>
          <a:p>
            <a:pPr>
              <a:spcAft>
                <a:spcPts val="600"/>
              </a:spcAft>
            </a:pPr>
            <a:r>
              <a:rPr lang="ru-RU" dirty="0"/>
              <a:t>ScaleTransition (0.8 → 1.0) в сочетании с FadeTransition — экран появляется «из точки».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15</a:t>
            </a:fld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19,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Lottie-анимации</a:t>
            </a:r>
          </a:p>
          <a:p>
            <a:r>
              <a:rPr lang="ru-RU" dirty="0"/>
              <a:t>Векторная анимация из JSON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19,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Lottie: профессиональные анимации из JSON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Формат</a:t>
            </a:r>
          </a:p>
          <a:p>
            <a:pPr>
              <a:spcAft>
                <a:spcPts val="600"/>
              </a:spcAft>
            </a:pPr>
            <a:r>
              <a:rPr lang="ru-RU" dirty="0"/>
              <a:t>JSON-файл, экспортированный из After Effects. Выглядит профессионально и весит мало.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Использование</a:t>
            </a:r>
          </a:p>
          <a:p>
            <a:pPr>
              <a:spcAft>
                <a:spcPts val="600"/>
              </a:spcAft>
            </a:pPr>
            <a:r>
              <a:rPr lang="ru-RU" dirty="0"/>
              <a:t>Lottie.asset() или Lottie.network(); путь к assets и пакет lottie нужно указать в pubspec.yaml.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Управление воспроизведением</a:t>
            </a:r>
          </a:p>
          <a:p>
            <a:pPr>
              <a:spcAft>
                <a:spcPts val="600"/>
              </a:spcAft>
            </a:pPr>
            <a:r>
              <a:rPr lang="ru-RU" dirty="0"/>
              <a:t>Передать AnimationController, в onLoaded взять duration из composition и вызвать repeat().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17</a:t>
            </a:fld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Домашнее задание: оживляем CineTrack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19,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Что сделать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Hero-анимация постера: общий tag 'poster-${movie.id}' на карточке и экране деталей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Карточки фильмов появляются через AnimatedOpacity (fade-in 0→1 за 500 мс, easeIn)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FavoriteButton: AnimatedSwitcher со ScaleTransition и ValueKey&lt;bool&gt;(isFavorite)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Виджет LoadingAnimation: AnimationController + Tween(0, 2π) + AnimatedBuilder вместо CircularProgressIndicator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PageRouteBuilder со slide-up и fade переходом на MovieDetailScreen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Опционально: Lottie-анимация empty_favorites.json на пустом экране избранного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Контекст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Экраны списка и деталей фильма уже реализованы в предыдущих лекциях (BLoC, HTTP, персистентность)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Задача — не новая логика, а «оживление» существующего UI переходами и реакцией на действия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Hero и slide-up переход должны корректно работать вместе — Flutter совмещает их автоматически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Все контроллеры обязаны освобождаться в dispose() — утечки памяти недопустимы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18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неофлекс 2025">
  <a:themeElements>
    <a:clrScheme name="Neoflex">
      <a:dk1>
        <a:srgbClr val="140032"/>
      </a:dk1>
      <a:lt1>
        <a:srgbClr val="FFFFFF"/>
      </a:lt1>
      <a:dk2>
        <a:srgbClr val="46006E"/>
      </a:dk2>
      <a:lt2>
        <a:srgbClr val="FFFFFF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FFA019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неофлекс 2025" id="{173D98FC-B62A-4B4C-8EA7-D46FA3AEE8A7}" vid="{7CFBC142-695B-434E-8C7F-14A948D34D3A}"/>
    </a:ext>
  </a:extLst>
</a:theme>
</file>

<file path=ppt/theme/theme2.xml><?xml version="1.0" encoding="utf-8"?>
<a:theme xmlns:a="http://schemas.openxmlformats.org/drawingml/2006/main" name="неофлекс 2026-3">
  <a:themeElements>
    <a:clrScheme name="Другая 6">
      <a:dk1>
        <a:srgbClr val="140032"/>
      </a:dk1>
      <a:lt1>
        <a:srgbClr val="FFFFFF"/>
      </a:lt1>
      <a:dk2>
        <a:srgbClr val="460F64"/>
      </a:dk2>
      <a:lt2>
        <a:srgbClr val="BA9CF6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821464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flat" cmpd="sng" algn="ctr">
          <a:solidFill>
            <a:schemeClr val="accent4"/>
          </a:solidFill>
          <a:prstDash val="solid"/>
          <a:round/>
          <a:headEnd type="none" w="med" len="med"/>
          <a:tailEnd type="triangle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неофлекс 2026-3" id="{F397E552-D672-41D1-9AB2-A15B879DD96D}" vid="{834CE028-435E-44C8-8A32-D3FA756AF255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неофлекс 2025</Template>
  <TotalTime>4796</TotalTime>
  <Words>1074</Words>
  <Application>Microsoft Macintosh PowerPoint</Application>
  <PresentationFormat>Widescreen</PresentationFormat>
  <Paragraphs>170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Franklin Gothic Book</vt:lpstr>
      <vt:lpstr>Roboto</vt:lpstr>
      <vt:lpstr>Segoe UI</vt:lpstr>
      <vt:lpstr>Segoe UI Black</vt:lpstr>
      <vt:lpstr>неофлекс 2025</vt:lpstr>
      <vt:lpstr>неофлекс 2026-3</vt:lpstr>
      <vt:lpstr>PowerPoint Presentation</vt:lpstr>
      <vt:lpstr>План лекции</vt:lpstr>
      <vt:lpstr>Зачем нужны анимации</vt:lpstr>
      <vt:lpstr>PowerPoint Presentation</vt:lpstr>
      <vt:lpstr>Имплицитные анимации: базовые виджеты</vt:lpstr>
      <vt:lpstr>AnimatedSwitcher и TweenAnimationBuilder</vt:lpstr>
      <vt:lpstr>PowerPoint Presentation</vt:lpstr>
      <vt:lpstr>AnimationController</vt:lpstr>
      <vt:lpstr>AnimatedBuilder: эффективная перестройка</vt:lpstr>
      <vt:lpstr>PowerPoint Presentation</vt:lpstr>
      <vt:lpstr>Кривые: равномерно, с разгоном или с отскоком</vt:lpstr>
      <vt:lpstr>Имплицитные vs явные анимации</vt:lpstr>
      <vt:lpstr>PowerPoint Presentation</vt:lpstr>
      <vt:lpstr>Hero: анимация между экранами</vt:lpstr>
      <vt:lpstr>PageRouteBuilder: кастомные переходы</vt:lpstr>
      <vt:lpstr>PowerPoint Presentation</vt:lpstr>
      <vt:lpstr>Lottie: профессиональные анимации из JSON</vt:lpstr>
      <vt:lpstr>Домашнее задание: оживляем CineTrack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Kobzeva, Natalia</dc:creator>
  <cp:lastModifiedBy>Microsoft Office User</cp:lastModifiedBy>
  <cp:revision>350</cp:revision>
  <dcterms:created xsi:type="dcterms:W3CDTF">2025-10-28T11:38:48Z</dcterms:created>
  <dcterms:modified xsi:type="dcterms:W3CDTF">2026-09-03T07:13:42Z</dcterms:modified>
</cp:coreProperties>
</file>