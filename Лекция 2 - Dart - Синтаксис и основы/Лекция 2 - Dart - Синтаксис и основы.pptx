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31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29"/>
    <p:sldId id="304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2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Dart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Синтаксис и основы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Основы языка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Что такое Dart и DartPad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Переменные и типы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Строки и интерполяция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Логика программы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Операторы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Условия и циклы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Функции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Работа с данными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Коллекции: List, Set, Map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Spread и collection if/for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Null Safety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ЧАСТЬ 1</a:t>
            </a:r>
          </a:p>
          <a:p>
            <a:r>
              <a:rPr lang="ru-RU" dirty="0"/>
              <a:t>Основы Dart: переменные, типы, строки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Что такое Dart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Язык от Google</a:t>
            </a:r>
          </a:p>
          <a:p>
            <a:pPr>
              <a:spcAft>
                <a:spcPts val="600"/>
              </a:spcAft>
            </a:pPr>
            <a:r>
              <a:rPr lang="ru-RU" dirty="0"/>
              <a:t>Dart создан Google для быстрых и удобных приложений — это язык, на котором пишется Flutter.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Компилируется двумя способами</a:t>
            </a:r>
          </a:p>
          <a:p>
            <a:pPr>
              <a:spcAft>
                <a:spcPts val="600"/>
              </a:spcAft>
            </a:pPr>
            <a:r>
              <a:rPr lang="ru-RU" dirty="0"/>
              <a:t>В нативный код — быстрый запуск на устройстве; и в JavaScript — запуск в браузере.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DartPad — старт без установки</a:t>
            </a:r>
          </a:p>
          <a:p>
            <a:pPr>
              <a:spcAft>
                <a:spcPts val="600"/>
              </a:spcAft>
            </a:pPr>
            <a:r>
              <a:rPr lang="ru-RU" dirty="0"/>
              <a:t>dartpad.dev: пишете код слева, жмёте Run, видите результат справа. Так мы будем пробовать все примеры.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Базовые типы данных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В Dart у каждой переменной заранее известный тип значения.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int</a:t>
            </a:r>
          </a:p>
          <a:p>
            <a:r>
              <a:rPr lang="ru-RU" sz="1600" dirty="0"/>
              <a:t>Целые числа: -2, -1, 0, 1, 2... Используется для количеств, возраста, года.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double</a:t>
            </a:r>
          </a:p>
          <a:p>
            <a:r>
              <a:rPr lang="ru-RU" b="0" dirty="0">
                <a:solidFill>
                  <a:schemeClr val="tx1"/>
                </a:solidFill>
              </a:rPr>
              <a:t>Числа с плавающей точкой. Дробная часть отделяется точкой, а не запятой: 1.75.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String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Текст в одинарных или двойных кавычках: 'Москва', "Привет".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bool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true или false. Основа условий if, while и других проверок.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var, final, const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var — вывод типа</a:t>
            </a:r>
          </a:p>
          <a:p>
            <a:pPr>
              <a:spcAft>
                <a:spcPts val="600"/>
              </a:spcAft>
            </a:pPr>
            <a:r>
              <a:rPr lang="ru-RU" dirty="0"/>
              <a:t>Dart сам определяет тип по значению. После этого тип менять нельзя: var name = 'Мария' навсегда String.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final — один раз, в рантайме</a:t>
            </a:r>
          </a:p>
          <a:p>
            <a:pPr>
              <a:spcAft>
                <a:spcPts val="600"/>
              </a:spcAft>
            </a:pPr>
            <a:r>
              <a:rPr lang="ru-RU" dirty="0"/>
              <a:t>Значение присваивается один раз, но может вычисляться при запуске программы, например DateTime.now().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const — константа компиляции</a:t>
            </a:r>
          </a:p>
          <a:p>
            <a:pPr>
              <a:spcAft>
                <a:spcPts val="600"/>
              </a:spcAft>
            </a:pPr>
            <a:r>
              <a:rPr lang="ru-RU" dirty="0"/>
              <a:t>Значение должно быть известно ещё до запуска — это литералы: числа, строки, цвета.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final или const — в чём разница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final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Значение определяется во время выполнения программы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Может использовать результат функции: final t = DateTime.now()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Переприсвоить нельзя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Используйте final для всего, что не должно меняться после первого присваивания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const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Значение известно ещё до запуска — во время компиляции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Не может использовать DateTime.now() и другие runtime-вычисления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Переприсвоить тоже нельзя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Используйте const для магических чисел, цветов, URL, заголовков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dynamic — почему это плохая практика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Ошибки не ловятся заранее</a:t>
            </a:r>
          </a:p>
          <a:p>
            <a:pPr>
              <a:spcAft>
                <a:spcPts val="600"/>
              </a:spcAft>
            </a:pPr>
            <a:r>
              <a:rPr lang="ru-RU" dirty="0"/>
              <a:t>Dart теряет возможность проверить типы на этапе компиляции — ошибка вылезет только во время выполнения.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IDE не помогает</a:t>
            </a:r>
          </a:p>
          <a:p>
            <a:pPr>
              <a:spcAft>
                <a:spcPts val="600"/>
              </a:spcAft>
            </a:pPr>
            <a:r>
              <a:rPr lang="ru-RU" dirty="0"/>
              <a:t>Среда разработки не может подсказать, какие методы и свойства доступны у значения.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Неожиданные сбои</a:t>
            </a:r>
          </a:p>
          <a:p>
            <a:pPr>
              <a:spcAft>
                <a:spcPts val="600"/>
              </a:spcAft>
            </a:pPr>
            <a:r>
              <a:rPr lang="ru-RU" dirty="0"/>
              <a:t>Программа может упасть там, где статический тип позволил бы предупредить вас заранее.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Строки: кавычки и многострочный текст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Одинарные и двойные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Результат одинаковый: 'текст' и "текст"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Кавычка внутри — экранируйте \' или \"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Проще: смените тип кавычек снаружи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Экранирование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Обратный слеш \ перед спецсимволом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Пример: 'Он сказал: \'Привет!\''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Нужно редко — обычно проще сменить кавычки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Многострочные строки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Тройные кавычки '''...''' или """..."""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Удобно для длинных текстов и стихов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Переносы строк сохраняются как есть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Интерполяция строк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$переменная</a:t>
            </a:r>
          </a:p>
          <a:p>
            <a:pPr>
              <a:spcAft>
                <a:spcPts val="600"/>
              </a:spcAft>
            </a:pPr>
            <a:r>
              <a:rPr lang="ru-RU" dirty="0"/>
              <a:t>Одиночную переменную можно вставить прямо в строку через знак доллара: 'Привет, $name!'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${выражение}</a:t>
            </a:r>
          </a:p>
          <a:p>
            <a:pPr>
              <a:spcAft>
                <a:spcPts val="600"/>
              </a:spcAft>
            </a:pPr>
            <a:r>
              <a:rPr lang="ru-RU" dirty="0"/>
              <a:t>Для вызова метода или вычисления нужны фигурные скобки: '${name.toUpperCase()}', '${price * count}'.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Простое правило</a:t>
            </a:r>
          </a:p>
          <a:p>
            <a:pPr>
              <a:spcAft>
                <a:spcPts val="600"/>
              </a:spcAft>
            </a:pPr>
            <a:r>
              <a:rPr lang="ru-RU" dirty="0"/>
              <a:t>Одна переменная — $name. Любое выражение или вызов метода — ${...}.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Полезные методы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Регистр и пробелы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.length — количество символов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.trim() — убрать пробелы по краям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.toUpperCase() / .toLowerCase()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Поиск и замена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.contains() — есть ли подстрока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.split() — разбить на список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.replaceAll() — заменить все вхождения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Начало и конец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.startsWith() — начинается с...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.endsWith() — заканчивается на...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Все методы возвращают новую строку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ЧАСТЬ 2</a:t>
            </a:r>
          </a:p>
          <a:p>
            <a:r>
              <a:rPr lang="ru-RU" dirty="0"/>
              <a:t>Операторы, условия, циклы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операторы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Операторы для вычислений над числами int и double.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+ и -</a:t>
            </a:r>
          </a:p>
          <a:p>
            <a:r>
              <a:rPr lang="ru-RU" sz="1600" dirty="0"/>
              <a:t>Сложение и вычитание: обычная арифметика над числами.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* и /</a:t>
            </a:r>
          </a:p>
          <a:p>
            <a:r>
              <a:rPr lang="ru-RU" b="0" dirty="0">
                <a:solidFill>
                  <a:schemeClr val="tx1"/>
                </a:solidFill>
              </a:rPr>
              <a:t>Умножение; деление / всегда возвращает double, даже для целых чисел.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~/ — целочисленное деление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Делит и отбрасывает дробную часть, результат всегда int: 17 ~/ 5 = 3.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% — остаток от деления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Возвращает остаток: 17 % 5 = 2, потому что 17 = 5*3 + 2.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Сравнение, логика, присваивание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Сравнение → bool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== равны, != не равны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&gt; больше, &lt; меньше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&gt;= и &lt;= — больше/меньше или равно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Логические операторы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&amp;&amp; (И) — оба условия истинны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|| (ИЛИ) — хотя бы одно истинно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! (НЕ) — инверсия значения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Присваивание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+=, -=, *=, ~/= — краткая запись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score += 5 значит score = score + 5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++ и -- — инкремент и декремент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Принятие решений: if, тернарный, switch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if / else if / else</a:t>
            </a:r>
          </a:p>
          <a:p>
            <a:pPr>
              <a:spcAft>
                <a:spcPts val="600"/>
              </a:spcAft>
            </a:pPr>
            <a:r>
              <a:rPr lang="ru-RU" dirty="0"/>
              <a:t>Проверка условий сверху вниз; выполняется первый подходящий блок, остальные игнорируются.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Тернарный оператор ?:</a:t>
            </a:r>
          </a:p>
          <a:p>
            <a:pPr>
              <a:spcAft>
                <a:spcPts val="600"/>
              </a:spcAft>
            </a:pPr>
            <a:r>
              <a:rPr lang="ru-RU" dirty="0"/>
              <a:t>Краткая форма для выбора одного из двух значений: age &gt;= 18 ? 'взрослый' : 'несовершеннолетний'.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switch / case</a:t>
            </a:r>
          </a:p>
          <a:p>
            <a:pPr>
              <a:spcAft>
                <a:spcPts val="600"/>
              </a:spcAft>
            </a:pPr>
            <a:r>
              <a:rPr lang="ru-RU" dirty="0"/>
              <a:t>Удобен, когда одна переменная сравнивается с несколькими значениями. break обязателен в конце case.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15</a:t>
            </a:fld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Циклы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for (классический)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for (начало; условие; шаг)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Например: for (int i = 1; i &lt;= 5; i++)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Известно точное число повторений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for-in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Перебор каждого элемента коллекции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for (String city in cities)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Не нужен счётчик и индекс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while / do-while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while — проверка условия до тела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do-while — тело выполнится хотя бы раз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Не забывайте менять условие внутри цикла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break и continue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break — прервать цикл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Немедленно выходит из цикла целиком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Пример: остановиться, когда i ==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Код после break внутри цикла не выполняется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Используется, когда дальнейший перебор не нужен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continue — пропустить итерацию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Пропускает текущий шаг и переходит к следующему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Пример: пропустить чётные числа (i % 2 == 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Цикл продолжает работу, а не завершается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Используется для фильтрации значений внутри цикла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ЧАСТЬ 3</a:t>
            </a:r>
          </a:p>
          <a:p>
            <a:r>
              <a:rPr lang="ru-RU" dirty="0"/>
              <a:t>Функции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Анатомия функции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Функция с типом результата</a:t>
            </a:r>
          </a:p>
          <a:p>
            <a:pPr>
              <a:spcAft>
                <a:spcPts val="600"/>
              </a:spcAft>
            </a:pPr>
            <a:r>
              <a:rPr lang="ru-RU" dirty="0"/>
              <a:t>тип имя(параметры) { return значение; } — например int add(int a, int b) =&gt; a + 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void — без возврата</a:t>
            </a:r>
          </a:p>
          <a:p>
            <a:pPr>
              <a:spcAft>
                <a:spcPts val="600"/>
              </a:spcAft>
            </a:pPr>
            <a:r>
              <a:rPr lang="ru-RU" dirty="0"/>
              <a:t>Функция выполняет действия (например print), но ничего не возвращает.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Стрелочный синтаксис =&gt;</a:t>
            </a:r>
          </a:p>
          <a:p>
            <a:pPr>
              <a:spcAft>
                <a:spcPts val="600"/>
              </a:spcAft>
            </a:pPr>
            <a:r>
              <a:rPr lang="ru-RU" dirty="0"/>
              <a:t>Если тело — одно выражение, можно записать короче: int square(int x) =&gt; x * x.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параметров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Dart предлагает несколько способов передавать данные в функцию.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Позиционные</a:t>
            </a:r>
          </a:p>
          <a:p>
            <a:r>
              <a:rPr lang="ru-RU" sz="1600" dirty="0"/>
              <a:t>Передаются по порядку, без имени: buildProfile('Ольга', 22, 'СПб').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Именованные {required}</a:t>
            </a:r>
          </a:p>
          <a:p>
            <a:r>
              <a:rPr lang="ru-RU" b="0" dirty="0">
                <a:solidFill>
                  <a:schemeClr val="tx1"/>
                </a:solidFill>
              </a:rPr>
              <a:t>Указываются по имени при вызове, порядок не важен: createCard(name: ..., role: ...).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Опциональные [ ]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Необязательные позиционные параметры в квадратных скобках, часто nullable: [String? title].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Значения по умолчанию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Именованный или опциональный параметр может иметь значение по умолчанию: int age = 0.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Функции — объекты первого класса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Сохранить в переменную</a:t>
            </a:r>
          </a:p>
          <a:p>
            <a:pPr>
              <a:spcAft>
                <a:spcPts val="600"/>
              </a:spcAft>
            </a:pPr>
            <a:r>
              <a:rPr lang="ru-RU" dirty="0"/>
              <a:t>var double = (int x) =&gt; x * 2; — функцию можно присвоить переменной как любое значение.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Передать как параметр</a:t>
            </a:r>
          </a:p>
          <a:p>
            <a:pPr>
              <a:spcAft>
                <a:spcPts val="600"/>
              </a:spcAft>
            </a:pPr>
            <a:r>
              <a:rPr lang="ru-RU" dirty="0"/>
              <a:t>greetAll(students, sayHello) — функция передаётся в другую функцию для вызова.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Вернуть из функции</a:t>
            </a:r>
          </a:p>
          <a:p>
            <a:pPr>
              <a:spcAft>
                <a:spcPts val="600"/>
              </a:spcAft>
            </a:pPr>
            <a:r>
              <a:rPr lang="ru-RU" dirty="0"/>
              <a:t>Функция может быть результатом работы другой функции — это открывает путь к callback-стилю.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21</a:t>
            </a:fld>
            <a:endParaRPr lang="ru-RU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Анонимные функции и лямбды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Функция без имени</a:t>
            </a:r>
          </a:p>
          <a:p>
            <a:pPr>
              <a:spcAft>
                <a:spcPts val="600"/>
              </a:spcAft>
            </a:pPr>
            <a:r>
              <a:rPr lang="ru-RU" dirty="0"/>
              <a:t>Нужна разово — например внутри forEach: numbers.forEach((n) { print(n); }).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Лямбда через =&gt;</a:t>
            </a:r>
          </a:p>
          <a:p>
            <a:pPr>
              <a:spcAft>
                <a:spcPts val="600"/>
              </a:spcAft>
            </a:pPr>
            <a:r>
              <a:rPr lang="ru-RU" dirty="0"/>
              <a:t>Короткая запись для одного выражения: numbers.forEach((n) =&gt; print('$n * $n')).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Используются повсеместно</a:t>
            </a:r>
          </a:p>
          <a:p>
            <a:pPr>
              <a:spcAft>
                <a:spcPts val="600"/>
              </a:spcAft>
            </a:pPr>
            <a:r>
              <a:rPr lang="ru-RU" dirty="0"/>
              <a:t>В коллекциях, обработчиках событий и Flutter-виджетах анонимные функции — обычная практика.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22</a:t>
            </a:fld>
            <a:endParaRPr lang="ru-RU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2,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23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ЧАСТЬ 4</a:t>
            </a:r>
          </a:p>
          <a:p>
            <a:r>
              <a:rPr lang="ru-RU" dirty="0"/>
              <a:t>Коллекции и Null Safety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List, Set, Map — три коллекции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List — список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Упорядоченный, индексы с 0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fruits[0], .add(), .remove()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.first, .last, .sort()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Set — множество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Только уникальные элементы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Дубликаты игнорируются автоматически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intersection, union, difference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Map — словарь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Пары ключ → значение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ages['Мария'], containsKey()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.keys, .values, .forEach()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24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Spread и collection if/for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Spread-оператор ...</a:t>
            </a:r>
          </a:p>
          <a:p>
            <a:pPr>
              <a:spcAft>
                <a:spcPts val="600"/>
              </a:spcAft>
            </a:pPr>
            <a:r>
              <a:rPr lang="ru-RU" dirty="0"/>
              <a:t>Разворачивает коллекцию внутрь другой: [...firstHalf, ...secondHalf] объединяет два списка.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Collection if</a:t>
            </a:r>
          </a:p>
          <a:p>
            <a:pPr>
              <a:spcAft>
                <a:spcPts val="600"/>
              </a:spcAft>
            </a:pPr>
            <a:r>
              <a:rPr lang="ru-RU" dirty="0"/>
              <a:t>Элемент добавляется в коллекцию условно: if (showAdmin) 'Администрирование'.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Collection for</a:t>
            </a:r>
          </a:p>
          <a:p>
            <a:pPr>
              <a:spcAft>
                <a:spcPts val="600"/>
              </a:spcAft>
            </a:pPr>
            <a:r>
              <a:rPr lang="ru-RU" dirty="0"/>
              <a:t>Генерирует элементы из другой коллекции прямо при создании списка: for (int n in numbers) 'Элемент $n'.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25</a:t>
            </a:fld>
            <a:endParaRPr lang="ru-RU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Null Safety: nullable-типы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Не-nullable по умолчанию</a:t>
            </a:r>
          </a:p>
          <a:p>
            <a:pPr>
              <a:spcAft>
                <a:spcPts val="600"/>
              </a:spcAft>
            </a:pPr>
            <a:r>
              <a:rPr lang="ru-RU" dirty="0"/>
              <a:t>String name гарантированно содержит строку — присвоить null нельзя, это ошибка компиляции.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Nullable через ?</a:t>
            </a:r>
          </a:p>
          <a:p>
            <a:pPr>
              <a:spcAft>
                <a:spcPts val="600"/>
              </a:spcAft>
            </a:pPr>
            <a:r>
              <a:rPr lang="ru-RU" dirty="0"/>
              <a:t>String? nickname — теперь переменная может быть null. Неинициализированная nullable-переменная = null.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Зачем это нужно</a:t>
            </a:r>
          </a:p>
          <a:p>
            <a:pPr>
              <a:spcAft>
                <a:spcPts val="600"/>
              </a:spcAft>
            </a:pPr>
            <a:r>
              <a:rPr lang="ru-RU" dirty="0"/>
              <a:t>Null Safety убирает целый класс ошибок «null там, где не ожидали» ещё на этапе написания кода.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26</a:t>
            </a:fld>
            <a:endParaRPr lang="ru-RU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?? и ?. — работа с null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?? — значение по умолчанию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Возвращает левый операнд, если он не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Иначе возвращает правый операнд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userName ?? 'Гость' — подставит 'Гость', если userName ==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Удобно для значений из сети или ввода пользователя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?. — безопасный вызов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Вызывает метод, только если объект не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Если объект null — вернёт null без ошибки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name?.toUpperCase() безопасен даже при name ==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Часто комбинируется с ??: name?.toUpperCase() ?? 'НЕТ ИМЕНИ'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первые программы на Dart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2,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 в DartPad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Задание 1: функция greet(name, {age = 0}) с тернарным оператором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Задание 2: fizzbuzz(n) — кратность 3, 5 и обоим сразу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Задание 3: список из 5 фильмов, отфильтровать через .where() длиннее 8 символов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Задание 4: Map&lt;String, double&gt; с рейтингами, вывести фильмы с рейтингом выше 8.0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Задание 5: findMax(List&lt;int&gt;) вручную через цикл, с обработкой пустого списка и ??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Чистый Dart без Flutter — тренируем синтаксис перед виджетами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Закрепляются функции, типы, условия, циклы, коллекции и Null Safety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Задания на фильмах — разминка перед CineTrack, который начнём собирать позже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Следующая лекция — ООП в Dart: классы, конструкторы, наследование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28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4799</TotalTime>
  <Words>1961</Words>
  <Application>Microsoft Macintosh PowerPoint</Application>
  <PresentationFormat>Widescreen</PresentationFormat>
  <Paragraphs>291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Что такое Dart</vt:lpstr>
      <vt:lpstr>Базовые типы данных</vt:lpstr>
      <vt:lpstr>var, final, const</vt:lpstr>
      <vt:lpstr>final или const — в чём разница</vt:lpstr>
      <vt:lpstr>dynamic — почему это плохая практика</vt:lpstr>
      <vt:lpstr>Строки: кавычки и многострочный текст</vt:lpstr>
      <vt:lpstr>Интерполяция строк</vt:lpstr>
      <vt:lpstr>Полезные методы String</vt:lpstr>
      <vt:lpstr>PowerPoint Presentation</vt:lpstr>
      <vt:lpstr>Арифметические операторы</vt:lpstr>
      <vt:lpstr>Сравнение, логика, присваивание</vt:lpstr>
      <vt:lpstr>Принятие решений: if, тернарный, switch</vt:lpstr>
      <vt:lpstr>Циклы</vt:lpstr>
      <vt:lpstr>break и continue</vt:lpstr>
      <vt:lpstr>PowerPoint Presentation</vt:lpstr>
      <vt:lpstr>Анатомия функции</vt:lpstr>
      <vt:lpstr>Виды параметров</vt:lpstr>
      <vt:lpstr>Функции — объекты первого класса</vt:lpstr>
      <vt:lpstr>Анонимные функции и лямбды</vt:lpstr>
      <vt:lpstr>PowerPoint Presentation</vt:lpstr>
      <vt:lpstr>List, Set, Map — три коллекции</vt:lpstr>
      <vt:lpstr>Spread и collection if/for</vt:lpstr>
      <vt:lpstr>Null Safety: nullable-типы</vt:lpstr>
      <vt:lpstr>?? и ?. — работа с null</vt:lpstr>
      <vt:lpstr>Домашнее задание: первые программы на Dart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2026-09-03T07:04:51Z</dcterms:modified>
</cp:coreProperties>
</file>