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24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6,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6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Введение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в виджеты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Основы виджетов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Что такое виджет и дерево виджетов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MaterialApp и Scaffold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AppBar и его свойства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Типы и жизненный цикл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StatelessWidget vs StatefulWidget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InheritedWidget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Жизненный цикл State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Ресурсы приложения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Ассеты и изображения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Виджет Image и BoxFit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Подключение шрифтов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Виджеты — основа Flutter UI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Всё — виджет</a:t>
            </a:r>
          </a:p>
          <a:p>
            <a:pPr>
              <a:spcAft>
                <a:spcPts val="600"/>
              </a:spcAft>
            </a:pPr>
            <a:r>
              <a:rPr lang="ru-RU" dirty="0"/>
              <a:t>Визуальные компоненты интерфейса строятся из виджетов, вложенных друг в друга.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runApp(Widget app)</a:t>
            </a:r>
          </a:p>
          <a:p>
            <a:pPr>
              <a:spcAft>
                <a:spcPts val="600"/>
              </a:spcAft>
            </a:pPr>
            <a:r>
              <a:rPr lang="ru-RU" dirty="0"/>
              <a:t>Запускает приложение, прикрепляя корневой виджет к экрану устройства.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Дерево виджетов</a:t>
            </a:r>
          </a:p>
          <a:p>
            <a:pPr>
              <a:spcAft>
                <a:spcPts val="600"/>
              </a:spcAft>
            </a:pPr>
            <a:r>
              <a:rPr lang="ru-RU" dirty="0"/>
              <a:t>Виджеты включают друг друга (например Align с child Text), образуя иерархию.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3</a:t>
            </a:fld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6,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MaterialApp и Scaffold</a:t>
            </a:r>
          </a:p>
          <a:p>
            <a:r>
              <a:rPr lang="ru-RU" dirty="0"/>
              <a:t>Каркас приложения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Возможности MaterialApp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6,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MaterialApp — корневой контейнер приложения в стиле Material Design.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Навигация</a:t>
            </a:r>
          </a:p>
          <a:p>
            <a:r>
              <a:rPr lang="ru-RU" sz="1600" dirty="0"/>
              <a:t>Встроенный Navigator для стека экранов приложения.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Темы</a:t>
            </a:r>
          </a:p>
          <a:p>
            <a:r>
              <a:rPr lang="ru-RU" b="0" dirty="0">
                <a:solidFill>
                  <a:schemeClr val="tx1"/>
                </a:solidFill>
              </a:rPr>
              <a:t>ThemeData задаёт цвета, шрифты и стиль приложения.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Локализация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Поддержка нескольких языков и региональных ресурсов.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Маршрутизация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Свойство routes определяет переходы между экранами.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Ключевые параметры MaterialApp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Экран и заголовок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title — заголовок приложения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home — стартовый виджет-экран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Стиль и маршруты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theme — объект ThemeData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routes / initialRoute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onGenerateRoute — динамические маршруты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Отладка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navigatorObservers — слежение за переходами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debugShowCheckedModeBanner — баннер debug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6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Scaffold и AppBar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Scaffold.body</a:t>
            </a:r>
          </a:p>
          <a:p>
            <a:pPr>
              <a:spcAft>
                <a:spcPts val="600"/>
              </a:spcAft>
            </a:pPr>
            <a:r>
              <a:rPr lang="ru-RU" dirty="0"/>
              <a:t>Основное содержимое экрана в стиле Material Design.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Scaffold.appBar</a:t>
            </a:r>
          </a:p>
          <a:p>
            <a:pPr>
              <a:spcAft>
                <a:spcPts val="600"/>
              </a:spcAft>
            </a:pPr>
            <a:r>
              <a:rPr lang="ru-RU" dirty="0"/>
              <a:t>Верхняя панель экрана, принимает объект AppBar.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AppBar</a:t>
            </a:r>
          </a:p>
          <a:p>
            <a:pPr>
              <a:spcAft>
                <a:spcPts val="600"/>
              </a:spcAft>
            </a:pPr>
            <a:r>
              <a:rPr lang="ru-RU" dirty="0"/>
              <a:t>Заголовок, иконки, меню действий и вкладки экрана.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7</a:t>
            </a:fld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Свойства AppBar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Заголовок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leading — иконка меню или «Назад»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title — заголовок, обёрнутый в Text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Действия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actions — список IconButton (аналог меню)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bottom — обычно для TabBar под AppBar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Оформление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flexibleSpace — эффект схлопывающегося тулбара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AppBar — часть стиля Material Design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8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6,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Типы виджетов</a:t>
            </a:r>
          </a:p>
          <a:p>
            <a:r>
              <a:rPr lang="ru-RU" dirty="0"/>
              <a:t>Stateless, Stateful, Inherited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Два основных типа виджетов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StatelessWidget</a:t>
            </a:r>
          </a:p>
          <a:p>
            <a:pPr>
              <a:spcAft>
                <a:spcPts val="600"/>
              </a:spcAft>
            </a:pPr>
            <a:r>
              <a:rPr lang="ru-RU" dirty="0"/>
              <a:t>Неизменяемый виджет без состояния — текст, иконки, кнопки без внутренней логики.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StatefulWidget</a:t>
            </a:r>
          </a:p>
          <a:p>
            <a:pPr>
              <a:spcAft>
                <a:spcPts val="600"/>
              </a:spcAft>
            </a:pPr>
            <a:r>
              <a:rPr lang="ru-RU" dirty="0"/>
              <a:t>Виджет с изменяемым состоянием — формы, анимации, ListView, TextField, Checkbox.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InheritedWidget</a:t>
            </a:r>
          </a:p>
          <a:p>
            <a:pPr>
              <a:spcAft>
                <a:spcPts val="600"/>
              </a:spcAft>
            </a:pPr>
            <a:r>
              <a:rPr lang="ru-RU" dirty="0"/>
              <a:t>Невизуальный виджет, передающий данные детям по дереву (подробнее — в лекции о state management).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10</a:t>
            </a:fld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StatelessWidget: когда вызывается build()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Первое добавление</a:t>
            </a:r>
          </a:p>
          <a:p>
            <a:pPr>
              <a:spcAft>
                <a:spcPts val="600"/>
              </a:spcAft>
            </a:pPr>
            <a:r>
              <a:rPr lang="ru-RU" dirty="0"/>
              <a:t>Виджет впервые добавляется в дерево, описывающее интерфейс.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Смена конфигурации</a:t>
            </a:r>
          </a:p>
          <a:p>
            <a:pPr>
              <a:spcAft>
                <a:spcPts val="600"/>
              </a:spcAft>
            </a:pPr>
            <a:r>
              <a:rPr lang="ru-RU" dirty="0"/>
              <a:t>Родительский контейнер меняет конфигурацию виджета.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Изменение InheritedWidget</a:t>
            </a:r>
          </a:p>
          <a:p>
            <a:pPr>
              <a:spcAft>
                <a:spcPts val="600"/>
              </a:spcAft>
            </a:pPr>
            <a:r>
              <a:rPr lang="ru-RU" dirty="0"/>
              <a:t>Объект InheritedWidget, от которого зависит виджет, обновляется.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StatefulWidget: основы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Immutable / mutable</a:t>
            </a:r>
          </a:p>
          <a:p>
            <a:pPr>
              <a:spcAft>
                <a:spcPts val="600"/>
              </a:spcAft>
            </a:pPr>
            <a:r>
              <a:rPr lang="ru-RU" dirty="0"/>
              <a:t>Сам виджет неизменяем, но его состояние (State) может меняться.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createState()</a:t>
            </a:r>
          </a:p>
          <a:p>
            <a:pPr>
              <a:spcAft>
                <a:spcPts val="600"/>
              </a:spcAft>
            </a:pPr>
            <a:r>
              <a:rPr lang="ru-RU" dirty="0"/>
              <a:t>Создаёт объект State, связанный с виджетом; вызывается фреймворком.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class State&lt;T&gt;</a:t>
            </a:r>
          </a:p>
          <a:p>
            <a:pPr>
              <a:spcAft>
                <a:spcPts val="600"/>
              </a:spcAft>
            </a:pPr>
            <a:r>
              <a:rPr lang="ru-RU" dirty="0"/>
              <a:t>Хранит изменяемые данные и переопределяет build() для их отображения.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12</a:t>
            </a:fld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Пример: виджет Counter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Counter extends StatefulWidget</a:t>
            </a:r>
          </a:p>
          <a:p>
            <a:pPr>
              <a:spcAft>
                <a:spcPts val="600"/>
              </a:spcAft>
            </a:pPr>
            <a:r>
              <a:rPr lang="ru-RU" dirty="0"/>
              <a:t>Конструктор Counter({super.key}); createState() возвращает _CounterState.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_CounterState extends State&lt;Counter&gt;</a:t>
            </a:r>
          </a:p>
          <a:p>
            <a:pPr>
              <a:spcAft>
                <a:spcPts val="600"/>
              </a:spcAft>
            </a:pPr>
            <a:r>
              <a:rPr lang="ru-RU" dirty="0"/>
              <a:t>Хранит value и строит Text/ElevatedButton с текущим значением.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setState(() =&gt; value++)</a:t>
            </a:r>
          </a:p>
          <a:p>
            <a:pPr>
              <a:spcAft>
                <a:spcPts val="600"/>
              </a:spcAft>
            </a:pPr>
            <a:r>
              <a:rPr lang="ru-RU" dirty="0"/>
              <a:t>Уведомляет фреймворк о необходимости перестройки виджета по нажатию кнопки.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13</a:t>
            </a:fld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6,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Жизненный цикл StatefulWidget</a:t>
            </a:r>
          </a:p>
          <a:p>
            <a:r>
              <a:rPr lang="ru-RU" dirty="0"/>
              <a:t>От createState() до dispose()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Жизненный цикл: инициализация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Создание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createState() — вызывается один раз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mounted == true — после назначения BuildContext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initState()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Вызывается один раз перед первым build()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Подписка на Stream / ChangeNotifier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Инициализация данных на основе BuildContext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didChangeDependencies()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Вызывается сразу после initState()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Повторно — при изменении InheritedWidget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build() выполняется после него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15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Жизненный цикл: обновление и завершение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build() и setState()</a:t>
            </a:r>
          </a:p>
          <a:p>
            <a:pPr>
              <a:spcAft>
                <a:spcPts val="600"/>
              </a:spcAft>
            </a:pPr>
            <a:r>
              <a:rPr lang="ru-RU" dirty="0"/>
              <a:t>build строит UI; setState уведомляет фреймворк о необходимости перестройки.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didUpdateWidget()</a:t>
            </a:r>
          </a:p>
          <a:p>
            <a:pPr>
              <a:spcAft>
                <a:spcPts val="600"/>
              </a:spcAft>
            </a:pPr>
            <a:r>
              <a:rPr lang="ru-RU" dirty="0"/>
              <a:t>Вызывается при изменении конфигурации от родителя — можно сравнить старые и новые данные.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deactivate() и dispose()</a:t>
            </a:r>
          </a:p>
          <a:p>
            <a:pPr>
              <a:spcAft>
                <a:spcPts val="600"/>
              </a:spcAft>
            </a:pPr>
            <a:r>
              <a:rPr lang="ru-RU" dirty="0"/>
              <a:t>State убирается из дерева (возможно временно) и затем уничтожается; mounted становится false.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16</a:t>
            </a:fld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6,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17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Ассеты, изображения и шрифты</a:t>
            </a:r>
          </a:p>
          <a:p>
            <a:r>
              <a:rPr lang="ru-RU" dirty="0"/>
              <a:t>Ресурсы приложения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Работа с ассетами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Asset Bundle</a:t>
            </a:r>
          </a:p>
          <a:p>
            <a:pPr>
              <a:spcAft>
                <a:spcPts val="600"/>
              </a:spcAft>
            </a:pPr>
            <a:r>
              <a:rPr lang="ru-RU" dirty="0"/>
              <a:t>При сборке ассеты (json, шрифты, картинки, видео) упаковываются в архив, доступный во время выполнения.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Каталог assets/</a:t>
            </a:r>
          </a:p>
          <a:p>
            <a:pPr>
              <a:spcAft>
                <a:spcPts val="600"/>
              </a:spcAft>
            </a:pPr>
            <a:r>
              <a:rPr lang="ru-RU" dirty="0"/>
              <a:t>Ресурсы обычно хранятся в отдельной папке в корне проекта.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Регистрация в pubspec.yaml</a:t>
            </a:r>
          </a:p>
          <a:p>
            <a:pPr>
              <a:spcAft>
                <a:spcPts val="600"/>
              </a:spcAft>
            </a:pPr>
            <a:r>
              <a:rPr lang="ru-RU" dirty="0"/>
              <a:t>Пути к ассетам указываются в секции flutter: assets.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18</a:t>
            </a:fld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Виджет Image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Отображение ассета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Image.asset() — показ ассета по пути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AssetImage() — то же через ImageProvider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Другие источники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Image.network() — по сетевому адресу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Image.file() — из файла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Image.memory() — из Uint8List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Параметры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width / height — размеры изображения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fit: BoxFit — вписывание (contain, cover, fill и др.)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19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6,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Подключение шрифтов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Форматы</a:t>
            </a:r>
          </a:p>
          <a:p>
            <a:pPr>
              <a:spcAft>
                <a:spcPts val="600"/>
              </a:spcAft>
            </a:pPr>
            <a:r>
              <a:rPr lang="ru-RU" dirty="0"/>
              <a:t>Flutter поддерживает файлы шрифтов .ttf, .ttc и .otf.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pubspec.yaml</a:t>
            </a:r>
          </a:p>
          <a:p>
            <a:pPr>
              <a:spcAft>
                <a:spcPts val="600"/>
              </a:spcAft>
            </a:pPr>
            <a:r>
              <a:rPr lang="ru-RU" dirty="0"/>
              <a:t>Секция fonts: family + путь к asset, а также weight и style для начертаний.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Использование</a:t>
            </a:r>
          </a:p>
          <a:p>
            <a:pPr>
              <a:spcAft>
                <a:spcPts val="600"/>
              </a:spcAft>
            </a:pPr>
            <a:r>
              <a:rPr lang="ru-RU" dirty="0"/>
              <a:t>fontFamily в ThemeData — шрифт по умолчанию, либо в TextStyle конкретного Text.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20</a:t>
            </a:fld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Домашнее задание: первые виджеты CineTrack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6,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нужно сделать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Подключить шрифт Nunito через pubspec.yaml и задать его как fontFamily по умолчанию в ThemeData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Создать MovieCard (StatelessWidget) с параметрами title, year, rating, imageUrl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В карточке — постер через Image.network с errorBuilder-плейсхолдером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Название жирным шрифтом, год серым цветом, рейтинг со звездой (⭐ 8.4)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Создать HomeScreen (StatefulWidget) с AppBar «CineTrack» и ListView из 5 карточек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Подключить HomeScreen как home в MaterialApp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 CineTrack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Продолжение приложения CineTrack — трекера фильмов, разрабатываемого с Лекции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Первые реальные визуальные компоненты приложения — MovieCard и HomeScreen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Данные пока захардкожены (5 фильмов), подключение к API — в Лекции 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Локальный placeholder.png в assets/images — задел на случай ошибки загрузки постера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21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1093</Words>
  <Application>Microsoft Macintosh PowerPoint</Application>
  <PresentationFormat>Widescreen</PresentationFormat>
  <Paragraphs>197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Виджеты — основа Flutter UI</vt:lpstr>
      <vt:lpstr>PowerPoint Presentation</vt:lpstr>
      <vt:lpstr>Возможности MaterialApp</vt:lpstr>
      <vt:lpstr>Ключевые параметры MaterialApp</vt:lpstr>
      <vt:lpstr>Scaffold и AppBar</vt:lpstr>
      <vt:lpstr>Свойства AppBar</vt:lpstr>
      <vt:lpstr>PowerPoint Presentation</vt:lpstr>
      <vt:lpstr>Два основных типа виджетов</vt:lpstr>
      <vt:lpstr>StatelessWidget: когда вызывается build()</vt:lpstr>
      <vt:lpstr>StatefulWidget: основы</vt:lpstr>
      <vt:lpstr>Пример: виджет Counter</vt:lpstr>
      <vt:lpstr>PowerPoint Presentation</vt:lpstr>
      <vt:lpstr>Жизненный цикл: инициализация</vt:lpstr>
      <vt:lpstr>Жизненный цикл: обновление и завершение</vt:lpstr>
      <vt:lpstr>PowerPoint Presentation</vt:lpstr>
      <vt:lpstr>Работа с ассетами</vt:lpstr>
      <vt:lpstr>Виджет Image</vt:lpstr>
      <vt:lpstr>Подключение шрифтов</vt:lpstr>
      <vt:lpstr>Домашнее задание: первые виджеты CineTrack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2026-09-03T07:07:15Z</dcterms:modified>
</cp:coreProperties>
</file>